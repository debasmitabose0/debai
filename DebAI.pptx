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Roca One Light" charset="1" panose="00000400000000000000"/>
      <p:regular r:id="rId17"/>
    </p:embeddedFont>
    <p:embeddedFont>
      <p:font typeface="Roca One Heavy" charset="1" panose="00000A00000000000000"/>
      <p:regular r:id="rId18"/>
    </p:embeddedFont>
    <p:embeddedFont>
      <p:font typeface="Roca One" charset="1" panose="00000500000000000000"/>
      <p:regular r:id="rId19"/>
    </p:embeddedFont>
    <p:embeddedFont>
      <p:font typeface="Roca One Ultra-Bold" charset="1" panose="00000A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2" Target="../media/image5.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jpeg" Type="http://schemas.openxmlformats.org/officeDocument/2006/relationships/image"/><Relationship Id="rId3" Target="../media/image3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59" r="0" b="-9259"/>
            </a:stretch>
          </a:blipFill>
        </p:spPr>
      </p:sp>
      <p:grpSp>
        <p:nvGrpSpPr>
          <p:cNvPr name="Group 3" id="3"/>
          <p:cNvGrpSpPr/>
          <p:nvPr/>
        </p:nvGrpSpPr>
        <p:grpSpPr>
          <a:xfrm rot="0">
            <a:off x="1028700" y="4204916"/>
            <a:ext cx="7316764" cy="5483694"/>
            <a:chOff x="0" y="0"/>
            <a:chExt cx="9755685" cy="7311592"/>
          </a:xfrm>
        </p:grpSpPr>
        <p:grpSp>
          <p:nvGrpSpPr>
            <p:cNvPr name="Group 4" id="4"/>
            <p:cNvGrpSpPr/>
            <p:nvPr/>
          </p:nvGrpSpPr>
          <p:grpSpPr>
            <a:xfrm rot="0">
              <a:off x="0" y="0"/>
              <a:ext cx="9755685" cy="7311592"/>
              <a:chOff x="0" y="0"/>
              <a:chExt cx="3906921" cy="2928213"/>
            </a:xfrm>
          </p:grpSpPr>
          <p:sp>
            <p:nvSpPr>
              <p:cNvPr name="Freeform 5" id="5"/>
              <p:cNvSpPr/>
              <p:nvPr/>
            </p:nvSpPr>
            <p:spPr>
              <a:xfrm flipH="false" flipV="false" rot="0">
                <a:off x="0" y="0"/>
                <a:ext cx="3906921" cy="2928213"/>
              </a:xfrm>
              <a:custGeom>
                <a:avLst/>
                <a:gdLst/>
                <a:ahLst/>
                <a:cxnLst/>
                <a:rect r="r" b="b" t="t" l="l"/>
                <a:pathLst>
                  <a:path h="2928213" w="3906921">
                    <a:moveTo>
                      <a:pt x="3906921" y="37009"/>
                    </a:moveTo>
                    <a:lnTo>
                      <a:pt x="3906921" y="2891204"/>
                    </a:lnTo>
                    <a:cubicBezTo>
                      <a:pt x="3906921" y="2901019"/>
                      <a:pt x="3903022" y="2910433"/>
                      <a:pt x="3896081" y="2917373"/>
                    </a:cubicBezTo>
                    <a:cubicBezTo>
                      <a:pt x="3889141" y="2924314"/>
                      <a:pt x="3879728" y="2928213"/>
                      <a:pt x="3869912" y="2928213"/>
                    </a:cubicBezTo>
                    <a:lnTo>
                      <a:pt x="37009" y="2928213"/>
                    </a:lnTo>
                    <a:cubicBezTo>
                      <a:pt x="16569" y="2928213"/>
                      <a:pt x="0" y="2911644"/>
                      <a:pt x="0" y="2891204"/>
                    </a:cubicBezTo>
                    <a:lnTo>
                      <a:pt x="0" y="37009"/>
                    </a:lnTo>
                    <a:cubicBezTo>
                      <a:pt x="0" y="27193"/>
                      <a:pt x="3899" y="17780"/>
                      <a:pt x="10840" y="10840"/>
                    </a:cubicBezTo>
                    <a:cubicBezTo>
                      <a:pt x="17780" y="3899"/>
                      <a:pt x="27193" y="0"/>
                      <a:pt x="37009" y="0"/>
                    </a:cubicBezTo>
                    <a:lnTo>
                      <a:pt x="3869912" y="0"/>
                    </a:lnTo>
                    <a:cubicBezTo>
                      <a:pt x="3879728" y="0"/>
                      <a:pt x="3889141" y="3899"/>
                      <a:pt x="3896081" y="10840"/>
                    </a:cubicBezTo>
                    <a:cubicBezTo>
                      <a:pt x="3903022" y="17780"/>
                      <a:pt x="3906921" y="27193"/>
                      <a:pt x="3906921" y="37009"/>
                    </a:cubicBezTo>
                    <a:close/>
                  </a:path>
                </a:pathLst>
              </a:custGeom>
              <a:gradFill rotWithShape="true">
                <a:gsLst>
                  <a:gs pos="0">
                    <a:srgbClr val="03295A">
                      <a:alpha val="62000"/>
                    </a:srgbClr>
                  </a:gs>
                  <a:gs pos="100000">
                    <a:srgbClr val="041468">
                      <a:alpha val="74500"/>
                    </a:srgbClr>
                  </a:gs>
                </a:gsLst>
                <a:lin ang="0"/>
              </a:gradFill>
              <a:ln w="47625" cap="rnd">
                <a:solidFill>
                  <a:srgbClr val="FFFFFF"/>
                </a:solidFill>
                <a:prstDash val="solid"/>
                <a:round/>
              </a:ln>
            </p:spPr>
          </p:sp>
          <p:sp>
            <p:nvSpPr>
              <p:cNvPr name="TextBox 6" id="6"/>
              <p:cNvSpPr txBox="true"/>
              <p:nvPr/>
            </p:nvSpPr>
            <p:spPr>
              <a:xfrm>
                <a:off x="0" y="-47625"/>
                <a:ext cx="3906921" cy="2975838"/>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437656" y="646280"/>
              <a:ext cx="8880374" cy="6061334"/>
            </a:xfrm>
            <a:prstGeom prst="rect">
              <a:avLst/>
            </a:prstGeom>
          </p:spPr>
          <p:txBody>
            <a:bodyPr anchor="t" rtlCol="false" tIns="0" lIns="0" bIns="0" rIns="0">
              <a:spAutoFit/>
            </a:bodyPr>
            <a:lstStyle/>
            <a:p>
              <a:pPr algn="l">
                <a:lnSpc>
                  <a:spcPts val="3633"/>
                </a:lnSpc>
              </a:pPr>
              <a:r>
                <a:rPr lang="en-US" sz="2595" spc="108">
                  <a:solidFill>
                    <a:srgbClr val="FFFFFF"/>
                  </a:solidFill>
                  <a:latin typeface="Roca One Light"/>
                  <a:ea typeface="Roca One Light"/>
                  <a:cs typeface="Roca One Light"/>
                  <a:sym typeface="Roca One Light"/>
                </a:rPr>
                <a:t>💬 DebAI: Cyberpunk OCR + AI Chat Assistant</a:t>
              </a:r>
            </a:p>
            <a:p>
              <a:pPr algn="l">
                <a:lnSpc>
                  <a:spcPts val="1224"/>
                </a:lnSpc>
              </a:pPr>
            </a:p>
            <a:p>
              <a:pPr algn="l">
                <a:lnSpc>
                  <a:spcPts val="3633"/>
                </a:lnSpc>
              </a:pPr>
              <a:r>
                <a:rPr lang="en-US" sz="2595" spc="108">
                  <a:solidFill>
                    <a:srgbClr val="FFFFFF"/>
                  </a:solidFill>
                  <a:latin typeface="Roca One Light"/>
                  <a:ea typeface="Roca One Light"/>
                  <a:cs typeface="Roca One Light"/>
                  <a:sym typeface="Roca One Light"/>
                </a:rPr>
                <a:t> A futuristic application combining Image/PDF text extraction with conversational AI.</a:t>
              </a:r>
            </a:p>
            <a:p>
              <a:pPr algn="l">
                <a:lnSpc>
                  <a:spcPts val="1224"/>
                </a:lnSpc>
              </a:pPr>
            </a:p>
            <a:p>
              <a:pPr algn="l">
                <a:lnSpc>
                  <a:spcPts val="612"/>
                </a:lnSpc>
              </a:pPr>
            </a:p>
            <a:p>
              <a:pPr algn="l">
                <a:lnSpc>
                  <a:spcPts val="3633"/>
                </a:lnSpc>
              </a:pPr>
              <a:r>
                <a:rPr lang="en-US" sz="2595" spc="108">
                  <a:solidFill>
                    <a:srgbClr val="FFFFFF"/>
                  </a:solidFill>
                  <a:latin typeface="Roca One Light"/>
                  <a:ea typeface="Roca One Light"/>
                  <a:cs typeface="Roca One Light"/>
                  <a:sym typeface="Roca One Light"/>
                </a:rPr>
                <a:t>👩‍💻 Developed By: Debasmita Bose</a:t>
              </a:r>
            </a:p>
            <a:p>
              <a:pPr algn="l">
                <a:lnSpc>
                  <a:spcPts val="612"/>
                </a:lnSpc>
              </a:pPr>
            </a:p>
            <a:p>
              <a:pPr algn="l">
                <a:lnSpc>
                  <a:spcPts val="3633"/>
                </a:lnSpc>
              </a:pPr>
              <a:r>
                <a:rPr lang="en-US" sz="2595" spc="108">
                  <a:solidFill>
                    <a:srgbClr val="FFFFFF"/>
                  </a:solidFill>
                  <a:latin typeface="Roca One Light"/>
                  <a:ea typeface="Roca One Light"/>
                  <a:cs typeface="Roca One Light"/>
                  <a:sym typeface="Roca One Light"/>
                </a:rPr>
                <a:t> 🛠 Powered by: Streamlit • Ollama • Tesseract • pdfplumber</a:t>
              </a:r>
            </a:p>
            <a:p>
              <a:pPr algn="l" marL="0" indent="0" lvl="0">
                <a:lnSpc>
                  <a:spcPts val="3633"/>
                </a:lnSpc>
              </a:pPr>
              <a:r>
                <a:rPr lang="en-US" sz="2595" spc="108">
                  <a:solidFill>
                    <a:srgbClr val="FFFFFF"/>
                  </a:solidFill>
                  <a:latin typeface="Roca One Light"/>
                  <a:ea typeface="Roca One Light"/>
                  <a:cs typeface="Roca One Light"/>
                  <a:sym typeface="Roca One Light"/>
                </a:rPr>
                <a:t> 🔥Secure with Modern UI</a:t>
              </a:r>
            </a:p>
          </p:txBody>
        </p:sp>
      </p:grpSp>
      <p:grpSp>
        <p:nvGrpSpPr>
          <p:cNvPr name="Group 8" id="8"/>
          <p:cNvGrpSpPr/>
          <p:nvPr/>
        </p:nvGrpSpPr>
        <p:grpSpPr>
          <a:xfrm rot="0">
            <a:off x="5897880" y="1332022"/>
            <a:ext cx="6492240" cy="2214751"/>
            <a:chOff x="0" y="0"/>
            <a:chExt cx="8656320" cy="2953001"/>
          </a:xfrm>
        </p:grpSpPr>
        <p:sp>
          <p:nvSpPr>
            <p:cNvPr name="TextBox 9" id="9"/>
            <p:cNvSpPr txBox="true"/>
            <p:nvPr/>
          </p:nvSpPr>
          <p:spPr>
            <a:xfrm rot="0">
              <a:off x="1643703" y="948518"/>
              <a:ext cx="5368914" cy="2004483"/>
            </a:xfrm>
            <a:prstGeom prst="rect">
              <a:avLst/>
            </a:prstGeom>
          </p:spPr>
          <p:txBody>
            <a:bodyPr anchor="t" rtlCol="false" tIns="0" lIns="0" bIns="0" rIns="0">
              <a:spAutoFit/>
            </a:bodyPr>
            <a:lstStyle/>
            <a:p>
              <a:pPr algn="l">
                <a:lnSpc>
                  <a:spcPts val="11899"/>
                </a:lnSpc>
              </a:pPr>
              <a:r>
                <a:rPr lang="en-US" sz="9999" b="true">
                  <a:solidFill>
                    <a:srgbClr val="FFFFFF"/>
                  </a:solidFill>
                  <a:latin typeface="Roca One Heavy"/>
                  <a:ea typeface="Roca One Heavy"/>
                  <a:cs typeface="Roca One Heavy"/>
                  <a:sym typeface="Roca One Heavy"/>
                </a:rPr>
                <a:t>DebAI</a:t>
              </a:r>
            </a:p>
          </p:txBody>
        </p:sp>
        <p:sp>
          <p:nvSpPr>
            <p:cNvPr name="AutoShape 10" id="10"/>
            <p:cNvSpPr/>
            <p:nvPr/>
          </p:nvSpPr>
          <p:spPr>
            <a:xfrm>
              <a:off x="0" y="2885312"/>
              <a:ext cx="8656320" cy="0"/>
            </a:xfrm>
            <a:prstGeom prst="line">
              <a:avLst/>
            </a:prstGeom>
            <a:ln cap="flat" w="50800">
              <a:solidFill>
                <a:srgbClr val="FFFFFF"/>
              </a:solidFill>
              <a:prstDash val="solid"/>
              <a:headEnd type="diamond" len="lg" w="lg"/>
              <a:tailEnd type="diamond" len="lg" w="lg"/>
            </a:ln>
          </p:spPr>
        </p:sp>
        <p:sp>
          <p:nvSpPr>
            <p:cNvPr name="Freeform 11" id="11"/>
            <p:cNvSpPr/>
            <p:nvPr/>
          </p:nvSpPr>
          <p:spPr>
            <a:xfrm flipH="false" flipV="false" rot="5608181">
              <a:off x="5727139" y="-84687"/>
              <a:ext cx="2242660" cy="2563040"/>
            </a:xfrm>
            <a:custGeom>
              <a:avLst/>
              <a:gdLst/>
              <a:ahLst/>
              <a:cxnLst/>
              <a:rect r="r" b="b" t="t" l="l"/>
              <a:pathLst>
                <a:path h="2563040" w="2242660">
                  <a:moveTo>
                    <a:pt x="0" y="0"/>
                  </a:moveTo>
                  <a:lnTo>
                    <a:pt x="2242660" y="0"/>
                  </a:lnTo>
                  <a:lnTo>
                    <a:pt x="2242660" y="2563040"/>
                  </a:lnTo>
                  <a:lnTo>
                    <a:pt x="0" y="2563040"/>
                  </a:lnTo>
                  <a:lnTo>
                    <a:pt x="0" y="0"/>
                  </a:lnTo>
                  <a:close/>
                </a:path>
              </a:pathLst>
            </a:custGeom>
            <a:blipFill>
              <a:blip r:embed="rId3"/>
              <a:stretch>
                <a:fillRect l="0" t="0" r="0" b="0"/>
              </a:stretch>
            </a:blipFill>
          </p:spPr>
        </p:sp>
        <p:sp>
          <p:nvSpPr>
            <p:cNvPr name="Freeform 12" id="12"/>
            <p:cNvSpPr/>
            <p:nvPr/>
          </p:nvSpPr>
          <p:spPr>
            <a:xfrm flipH="false" flipV="true" rot="5227151">
              <a:off x="543095" y="-84687"/>
              <a:ext cx="2242660" cy="2563040"/>
            </a:xfrm>
            <a:custGeom>
              <a:avLst/>
              <a:gdLst/>
              <a:ahLst/>
              <a:cxnLst/>
              <a:rect r="r" b="b" t="t" l="l"/>
              <a:pathLst>
                <a:path h="2563040" w="2242660">
                  <a:moveTo>
                    <a:pt x="0" y="2563040"/>
                  </a:moveTo>
                  <a:lnTo>
                    <a:pt x="2242660" y="2563040"/>
                  </a:lnTo>
                  <a:lnTo>
                    <a:pt x="2242660" y="0"/>
                  </a:lnTo>
                  <a:lnTo>
                    <a:pt x="0" y="0"/>
                  </a:lnTo>
                  <a:lnTo>
                    <a:pt x="0" y="2563040"/>
                  </a:lnTo>
                  <a:close/>
                </a:path>
              </a:pathLst>
            </a:custGeom>
            <a:blipFill>
              <a:blip r:embed="rId3"/>
              <a:stretch>
                <a:fillRect l="0" t="0" r="0" b="0"/>
              </a:stretch>
            </a:blipFill>
          </p:spPr>
        </p:sp>
      </p:grpSp>
      <p:sp>
        <p:nvSpPr>
          <p:cNvPr name="Freeform 13" id="13"/>
          <p:cNvSpPr/>
          <p:nvPr/>
        </p:nvSpPr>
        <p:spPr>
          <a:xfrm flipH="false" flipV="false" rot="0">
            <a:off x="9968896" y="4204916"/>
            <a:ext cx="7290404" cy="5483694"/>
          </a:xfrm>
          <a:custGeom>
            <a:avLst/>
            <a:gdLst/>
            <a:ahLst/>
            <a:cxnLst/>
            <a:rect r="r" b="b" t="t" l="l"/>
            <a:pathLst>
              <a:path h="5483694" w="7290404">
                <a:moveTo>
                  <a:pt x="0" y="0"/>
                </a:moveTo>
                <a:lnTo>
                  <a:pt x="7290404" y="0"/>
                </a:lnTo>
                <a:lnTo>
                  <a:pt x="7290404" y="5483694"/>
                </a:lnTo>
                <a:lnTo>
                  <a:pt x="0" y="5483694"/>
                </a:lnTo>
                <a:lnTo>
                  <a:pt x="0" y="0"/>
                </a:lnTo>
                <a:close/>
              </a:path>
            </a:pathLst>
          </a:custGeom>
          <a:blipFill>
            <a:blip r:embed="rId4"/>
            <a:stretch>
              <a:fillRect l="0" t="-18838" r="-2247" b="-17096"/>
            </a:stretch>
          </a:blipFill>
          <a:ln w="47625" cap="rnd">
            <a:solidFill>
              <a:srgbClr val="D2D2D2"/>
            </a:solidFill>
            <a:prstDash val="solid"/>
            <a:round/>
          </a:ln>
        </p:spPr>
      </p:sp>
      <p:sp>
        <p:nvSpPr>
          <p:cNvPr name="Freeform 14" id="14"/>
          <p:cNvSpPr/>
          <p:nvPr/>
        </p:nvSpPr>
        <p:spPr>
          <a:xfrm flipH="false" flipV="false" rot="0">
            <a:off x="1028700" y="1028700"/>
            <a:ext cx="1730644" cy="1190681"/>
          </a:xfrm>
          <a:custGeom>
            <a:avLst/>
            <a:gdLst/>
            <a:ahLst/>
            <a:cxnLst/>
            <a:rect r="r" b="b" t="t" l="l"/>
            <a:pathLst>
              <a:path h="1190681" w="1730644">
                <a:moveTo>
                  <a:pt x="0" y="0"/>
                </a:moveTo>
                <a:lnTo>
                  <a:pt x="1730644" y="0"/>
                </a:lnTo>
                <a:lnTo>
                  <a:pt x="1730644" y="1190681"/>
                </a:lnTo>
                <a:lnTo>
                  <a:pt x="0" y="1190681"/>
                </a:lnTo>
                <a:lnTo>
                  <a:pt x="0" y="0"/>
                </a:lnTo>
                <a:close/>
              </a:path>
            </a:pathLst>
          </a:custGeom>
          <a:blipFill>
            <a:blip r:embed="rId5"/>
            <a:stretch>
              <a:fillRect l="-62099" t="-50328" r="-64230" b="-55276"/>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grpSp>
        <p:nvGrpSpPr>
          <p:cNvPr name="Group 3" id="3"/>
          <p:cNvGrpSpPr/>
          <p:nvPr/>
        </p:nvGrpSpPr>
        <p:grpSpPr>
          <a:xfrm rot="0">
            <a:off x="9429056" y="2511060"/>
            <a:ext cx="7830244" cy="6747240"/>
            <a:chOff x="0" y="0"/>
            <a:chExt cx="1257627" cy="1083684"/>
          </a:xfrm>
        </p:grpSpPr>
        <p:sp>
          <p:nvSpPr>
            <p:cNvPr name="Freeform 4" id="4"/>
            <p:cNvSpPr/>
            <p:nvPr/>
          </p:nvSpPr>
          <p:spPr>
            <a:xfrm flipH="false" flipV="false" rot="0">
              <a:off x="0" y="0"/>
              <a:ext cx="1257627" cy="1083684"/>
            </a:xfrm>
            <a:custGeom>
              <a:avLst/>
              <a:gdLst/>
              <a:ahLst/>
              <a:cxnLst/>
              <a:rect r="r" b="b" t="t" l="l"/>
              <a:pathLst>
                <a:path h="1083684" w="1257627">
                  <a:moveTo>
                    <a:pt x="98872" y="0"/>
                  </a:moveTo>
                  <a:lnTo>
                    <a:pt x="1158755" y="0"/>
                  </a:lnTo>
                  <a:cubicBezTo>
                    <a:pt x="1184977" y="0"/>
                    <a:pt x="1210126" y="10417"/>
                    <a:pt x="1228668" y="28959"/>
                  </a:cubicBezTo>
                  <a:cubicBezTo>
                    <a:pt x="1247210" y="47501"/>
                    <a:pt x="1257627" y="72650"/>
                    <a:pt x="1257627" y="98872"/>
                  </a:cubicBezTo>
                  <a:lnTo>
                    <a:pt x="1257627" y="984812"/>
                  </a:lnTo>
                  <a:cubicBezTo>
                    <a:pt x="1257627" y="1011034"/>
                    <a:pt x="1247210" y="1036183"/>
                    <a:pt x="1228668" y="1054725"/>
                  </a:cubicBezTo>
                  <a:cubicBezTo>
                    <a:pt x="1210126" y="1073267"/>
                    <a:pt x="1184977" y="1083684"/>
                    <a:pt x="1158755" y="1083684"/>
                  </a:cubicBezTo>
                  <a:lnTo>
                    <a:pt x="98872" y="1083684"/>
                  </a:lnTo>
                  <a:cubicBezTo>
                    <a:pt x="72650" y="1083684"/>
                    <a:pt x="47501" y="1073267"/>
                    <a:pt x="28959" y="1054725"/>
                  </a:cubicBezTo>
                  <a:cubicBezTo>
                    <a:pt x="10417" y="1036183"/>
                    <a:pt x="0" y="1011034"/>
                    <a:pt x="0" y="984812"/>
                  </a:cubicBezTo>
                  <a:lnTo>
                    <a:pt x="0" y="98872"/>
                  </a:lnTo>
                  <a:cubicBezTo>
                    <a:pt x="0" y="72650"/>
                    <a:pt x="10417" y="47501"/>
                    <a:pt x="28959" y="28959"/>
                  </a:cubicBezTo>
                  <a:cubicBezTo>
                    <a:pt x="47501" y="10417"/>
                    <a:pt x="72650" y="0"/>
                    <a:pt x="98872" y="0"/>
                  </a:cubicBezTo>
                  <a:close/>
                </a:path>
              </a:pathLst>
            </a:custGeom>
            <a:blipFill>
              <a:blip r:embed="rId3"/>
              <a:stretch>
                <a:fillRect l="-7445" t="0" r="-7445" b="0"/>
              </a:stretch>
            </a:blipFill>
            <a:ln w="47625" cap="rnd">
              <a:solidFill>
                <a:srgbClr val="FFFFFF"/>
              </a:solidFill>
              <a:prstDash val="solid"/>
              <a:round/>
            </a:ln>
          </p:spPr>
        </p:sp>
      </p:grpSp>
      <p:grpSp>
        <p:nvGrpSpPr>
          <p:cNvPr name="Group 5" id="5"/>
          <p:cNvGrpSpPr/>
          <p:nvPr/>
        </p:nvGrpSpPr>
        <p:grpSpPr>
          <a:xfrm rot="0">
            <a:off x="4861004" y="572452"/>
            <a:ext cx="6847866" cy="912495"/>
            <a:chOff x="0" y="0"/>
            <a:chExt cx="9130489" cy="1216660"/>
          </a:xfrm>
        </p:grpSpPr>
        <p:sp>
          <p:nvSpPr>
            <p:cNvPr name="TextBox 6" id="6"/>
            <p:cNvSpPr txBox="true"/>
            <p:nvPr/>
          </p:nvSpPr>
          <p:spPr>
            <a:xfrm rot="0">
              <a:off x="145430" y="57150"/>
              <a:ext cx="8839629" cy="1159510"/>
            </a:xfrm>
            <a:prstGeom prst="rect">
              <a:avLst/>
            </a:prstGeom>
          </p:spPr>
          <p:txBody>
            <a:bodyPr anchor="t" rtlCol="false" tIns="0" lIns="0" bIns="0" rIns="0">
              <a:spAutoFit/>
            </a:bodyPr>
            <a:lstStyle/>
            <a:p>
              <a:pPr algn="ctr">
                <a:lnSpc>
                  <a:spcPts val="6540"/>
                </a:lnSpc>
              </a:pPr>
              <a:r>
                <a:rPr lang="en-US" sz="6000" b="true">
                  <a:solidFill>
                    <a:srgbClr val="FFFFFF"/>
                  </a:solidFill>
                  <a:latin typeface="Roca One Heavy"/>
                  <a:ea typeface="Roca One Heavy"/>
                  <a:cs typeface="Roca One Heavy"/>
                  <a:sym typeface="Roca One Heavy"/>
                </a:rPr>
                <a:t>Table of Contents</a:t>
              </a:r>
            </a:p>
          </p:txBody>
        </p:sp>
        <p:sp>
          <p:nvSpPr>
            <p:cNvPr name="AutoShape 7" id="7"/>
            <p:cNvSpPr/>
            <p:nvPr/>
          </p:nvSpPr>
          <p:spPr>
            <a:xfrm>
              <a:off x="0" y="1163602"/>
              <a:ext cx="9130489" cy="0"/>
            </a:xfrm>
            <a:prstGeom prst="line">
              <a:avLst/>
            </a:prstGeom>
            <a:ln cap="flat" w="50800">
              <a:solidFill>
                <a:srgbClr val="FFFFFF"/>
              </a:solidFill>
              <a:prstDash val="solid"/>
              <a:headEnd type="diamond" len="lg" w="lg"/>
              <a:tailEnd type="diamond" len="lg" w="lg"/>
            </a:ln>
          </p:spPr>
        </p:sp>
      </p:grpSp>
      <p:grpSp>
        <p:nvGrpSpPr>
          <p:cNvPr name="Group 8" id="8"/>
          <p:cNvGrpSpPr/>
          <p:nvPr/>
        </p:nvGrpSpPr>
        <p:grpSpPr>
          <a:xfrm rot="0">
            <a:off x="1028700" y="2250172"/>
            <a:ext cx="7793836" cy="7269016"/>
            <a:chOff x="0" y="0"/>
            <a:chExt cx="10391781" cy="9692021"/>
          </a:xfrm>
        </p:grpSpPr>
        <p:sp>
          <p:nvSpPr>
            <p:cNvPr name="TextBox 9" id="9"/>
            <p:cNvSpPr txBox="true"/>
            <p:nvPr/>
          </p:nvSpPr>
          <p:spPr>
            <a:xfrm rot="0">
              <a:off x="1114821" y="-57150"/>
              <a:ext cx="9276960" cy="9749171"/>
            </a:xfrm>
            <a:prstGeom prst="rect">
              <a:avLst/>
            </a:prstGeom>
          </p:spPr>
          <p:txBody>
            <a:bodyPr anchor="t" rtlCol="false" tIns="0" lIns="0" bIns="0" rIns="0">
              <a:spAutoFit/>
            </a:bodyPr>
            <a:lstStyle/>
            <a:p>
              <a:pPr algn="l">
                <a:lnSpc>
                  <a:spcPts val="3500"/>
                </a:lnSpc>
              </a:pPr>
              <a:r>
                <a:rPr lang="en-US" sz="2500" spc="40">
                  <a:solidFill>
                    <a:srgbClr val="FFFFFF"/>
                  </a:solidFill>
                  <a:latin typeface="Roca One Light"/>
                  <a:ea typeface="Roca One Light"/>
                  <a:cs typeface="Roca One Light"/>
                  <a:sym typeface="Roca One Light"/>
                </a:rPr>
                <a:t>Introduction &amp; Motivation</a:t>
              </a:r>
            </a:p>
            <a:p>
              <a:pPr algn="l">
                <a:lnSpc>
                  <a:spcPts val="3524"/>
                </a:lnSpc>
              </a:pPr>
              <a:r>
                <a:rPr lang="en-US" sz="2517" spc="40">
                  <a:solidFill>
                    <a:srgbClr val="FFFFFF"/>
                  </a:solidFill>
                  <a:latin typeface="Roca One Light"/>
                  <a:ea typeface="Roca One Light"/>
                  <a:cs typeface="Roca One Light"/>
                  <a:sym typeface="Roca One Light"/>
                </a:rPr>
                <a:t> </a:t>
              </a:r>
            </a:p>
            <a:p>
              <a:pPr algn="l">
                <a:lnSpc>
                  <a:spcPts val="3500"/>
                </a:lnSpc>
              </a:pPr>
              <a:r>
                <a:rPr lang="en-US" sz="2500" spc="40">
                  <a:solidFill>
                    <a:srgbClr val="FFFFFF"/>
                  </a:solidFill>
                  <a:latin typeface="Roca One Light"/>
                  <a:ea typeface="Roca One Light"/>
                  <a:cs typeface="Roca One Light"/>
                  <a:sym typeface="Roca One Light"/>
                </a:rPr>
                <a:t>Major Features</a:t>
              </a:r>
            </a:p>
            <a:p>
              <a:pPr algn="l">
                <a:lnSpc>
                  <a:spcPts val="3104"/>
                </a:lnSpc>
              </a:pPr>
              <a:r>
                <a:rPr lang="en-US" sz="2217" spc="35">
                  <a:solidFill>
                    <a:srgbClr val="FFFFFF"/>
                  </a:solidFill>
                  <a:latin typeface="Roca One Light"/>
                  <a:ea typeface="Roca One Light"/>
                  <a:cs typeface="Roca One Light"/>
                  <a:sym typeface="Roca One Light"/>
                </a:rPr>
                <a:t> </a:t>
              </a:r>
            </a:p>
            <a:p>
              <a:pPr algn="l">
                <a:lnSpc>
                  <a:spcPts val="3500"/>
                </a:lnSpc>
              </a:pPr>
              <a:r>
                <a:rPr lang="en-US" sz="2500" spc="40">
                  <a:solidFill>
                    <a:srgbClr val="FFFFFF"/>
                  </a:solidFill>
                  <a:latin typeface="Roca One"/>
                  <a:ea typeface="Roca One"/>
                  <a:cs typeface="Roca One"/>
                  <a:sym typeface="Roca One"/>
                </a:rPr>
                <a:t>System Architecture</a:t>
              </a:r>
            </a:p>
            <a:p>
              <a:pPr algn="l">
                <a:lnSpc>
                  <a:spcPts val="3524"/>
                </a:lnSpc>
              </a:pPr>
              <a:r>
                <a:rPr lang="en-US" sz="2517" spc="40">
                  <a:solidFill>
                    <a:srgbClr val="FFFFFF"/>
                  </a:solidFill>
                  <a:latin typeface="Roca One Light"/>
                  <a:ea typeface="Roca One Light"/>
                  <a:cs typeface="Roca One Light"/>
                  <a:sym typeface="Roca One Light"/>
                </a:rPr>
                <a:t> </a:t>
              </a:r>
            </a:p>
            <a:p>
              <a:pPr algn="l">
                <a:lnSpc>
                  <a:spcPts val="3500"/>
                </a:lnSpc>
              </a:pPr>
              <a:r>
                <a:rPr lang="en-US" sz="2500" spc="40">
                  <a:solidFill>
                    <a:srgbClr val="FFFFFF"/>
                  </a:solidFill>
                  <a:latin typeface="Roca One Light"/>
                  <a:ea typeface="Roca One Light"/>
                  <a:cs typeface="Roca One Light"/>
                  <a:sym typeface="Roca One Light"/>
                </a:rPr>
                <a:t>User Interface Experience </a:t>
              </a:r>
            </a:p>
            <a:p>
              <a:pPr algn="l">
                <a:lnSpc>
                  <a:spcPts val="3104"/>
                </a:lnSpc>
              </a:pPr>
              <a:r>
                <a:rPr lang="en-US" sz="2217" spc="35">
                  <a:solidFill>
                    <a:srgbClr val="FFFFFF"/>
                  </a:solidFill>
                  <a:latin typeface="Roca One Light"/>
                  <a:ea typeface="Roca One Light"/>
                  <a:cs typeface="Roca One Light"/>
                  <a:sym typeface="Roca One Light"/>
                </a:rPr>
                <a:t> </a:t>
              </a:r>
            </a:p>
            <a:p>
              <a:pPr algn="l">
                <a:lnSpc>
                  <a:spcPts val="3500"/>
                </a:lnSpc>
              </a:pPr>
              <a:r>
                <a:rPr lang="en-US" sz="2500" spc="40">
                  <a:solidFill>
                    <a:srgbClr val="FFFFFF"/>
                  </a:solidFill>
                  <a:latin typeface="Roca One Light"/>
                  <a:ea typeface="Roca One Light"/>
                  <a:cs typeface="Roca One Light"/>
                  <a:sym typeface="Roca One Light"/>
                </a:rPr>
                <a:t>Installation , Deployment &amp; Commands</a:t>
              </a:r>
            </a:p>
            <a:p>
              <a:pPr algn="l">
                <a:lnSpc>
                  <a:spcPts val="2824"/>
                </a:lnSpc>
              </a:pPr>
            </a:p>
            <a:p>
              <a:pPr algn="l">
                <a:lnSpc>
                  <a:spcPts val="1004"/>
                </a:lnSpc>
              </a:pPr>
            </a:p>
            <a:p>
              <a:pPr algn="l">
                <a:lnSpc>
                  <a:spcPts val="3500"/>
                </a:lnSpc>
              </a:pPr>
              <a:r>
                <a:rPr lang="en-US" sz="2500" spc="40">
                  <a:solidFill>
                    <a:srgbClr val="FFFFFF"/>
                  </a:solidFill>
                  <a:latin typeface="Roca One Light"/>
                  <a:ea typeface="Roca One Light"/>
                  <a:cs typeface="Roca One Light"/>
                  <a:sym typeface="Roca One Light"/>
                </a:rPr>
                <a:t>A Video Demonstrating My Chatbot Function</a:t>
              </a:r>
            </a:p>
            <a:p>
              <a:pPr algn="l">
                <a:lnSpc>
                  <a:spcPts val="3500"/>
                </a:lnSpc>
              </a:pPr>
            </a:p>
            <a:p>
              <a:pPr algn="l">
                <a:lnSpc>
                  <a:spcPts val="3500"/>
                </a:lnSpc>
              </a:pPr>
              <a:r>
                <a:rPr lang="en-US" sz="2500" spc="40">
                  <a:solidFill>
                    <a:srgbClr val="FFFFFF"/>
                  </a:solidFill>
                  <a:latin typeface="Roca One Light"/>
                  <a:ea typeface="Roca One Light"/>
                  <a:cs typeface="Roca One Light"/>
                  <a:sym typeface="Roca One Light"/>
                </a:rPr>
                <a:t>Overall What We Got to See In DebAI</a:t>
              </a:r>
            </a:p>
            <a:p>
              <a:pPr algn="l">
                <a:lnSpc>
                  <a:spcPts val="3500"/>
                </a:lnSpc>
              </a:pPr>
            </a:p>
            <a:p>
              <a:pPr algn="l">
                <a:lnSpc>
                  <a:spcPts val="3500"/>
                </a:lnSpc>
              </a:pPr>
              <a:r>
                <a:rPr lang="en-US" sz="2500" spc="40">
                  <a:solidFill>
                    <a:srgbClr val="FFFFFF"/>
                  </a:solidFill>
                  <a:latin typeface="Roca One Light"/>
                  <a:ea typeface="Roca One Light"/>
                  <a:cs typeface="Roca One Light"/>
                  <a:sym typeface="Roca One Light"/>
                </a:rPr>
                <a:t>Conclusion &amp; Future Enhancements</a:t>
              </a:r>
            </a:p>
            <a:p>
              <a:pPr algn="l">
                <a:lnSpc>
                  <a:spcPts val="1564"/>
                </a:lnSpc>
              </a:pPr>
            </a:p>
            <a:p>
              <a:pPr algn="l">
                <a:lnSpc>
                  <a:spcPts val="1284"/>
                </a:lnSpc>
              </a:pPr>
            </a:p>
            <a:p>
              <a:pPr algn="l">
                <a:lnSpc>
                  <a:spcPts val="3500"/>
                </a:lnSpc>
              </a:pPr>
              <a:r>
                <a:rPr lang="en-US" sz="2500" spc="40">
                  <a:solidFill>
                    <a:srgbClr val="FFFFFF"/>
                  </a:solidFill>
                  <a:latin typeface="Roca One Light"/>
                  <a:ea typeface="Roca One Light"/>
                  <a:cs typeface="Roca One Light"/>
                  <a:sym typeface="Roca One Light"/>
                </a:rPr>
                <a:t>Thank You</a:t>
              </a:r>
            </a:p>
          </p:txBody>
        </p:sp>
        <p:sp>
          <p:nvSpPr>
            <p:cNvPr name="Freeform 10" id="10"/>
            <p:cNvSpPr/>
            <p:nvPr/>
          </p:nvSpPr>
          <p:spPr>
            <a:xfrm flipH="false" flipV="false" rot="0">
              <a:off x="0" y="0"/>
              <a:ext cx="716799" cy="533511"/>
            </a:xfrm>
            <a:custGeom>
              <a:avLst/>
              <a:gdLst/>
              <a:ahLst/>
              <a:cxnLst/>
              <a:rect r="r" b="b" t="t" l="l"/>
              <a:pathLst>
                <a:path h="533511" w="716799">
                  <a:moveTo>
                    <a:pt x="0" y="0"/>
                  </a:moveTo>
                  <a:lnTo>
                    <a:pt x="716799" y="0"/>
                  </a:lnTo>
                  <a:lnTo>
                    <a:pt x="716799" y="533511"/>
                  </a:lnTo>
                  <a:lnTo>
                    <a:pt x="0" y="533511"/>
                  </a:lnTo>
                  <a:lnTo>
                    <a:pt x="0" y="0"/>
                  </a:lnTo>
                  <a:close/>
                </a:path>
              </a:pathLst>
            </a:custGeom>
            <a:blipFill>
              <a:blip r:embed="rId4"/>
              <a:stretch>
                <a:fillRect l="0" t="-17177" r="0" b="-17177"/>
              </a:stretch>
            </a:blipFill>
          </p:spPr>
        </p:sp>
        <p:sp>
          <p:nvSpPr>
            <p:cNvPr name="Freeform 11" id="11"/>
            <p:cNvSpPr/>
            <p:nvPr/>
          </p:nvSpPr>
          <p:spPr>
            <a:xfrm flipH="false" flipV="false" rot="0">
              <a:off x="0" y="1137730"/>
              <a:ext cx="716799" cy="533511"/>
            </a:xfrm>
            <a:custGeom>
              <a:avLst/>
              <a:gdLst/>
              <a:ahLst/>
              <a:cxnLst/>
              <a:rect r="r" b="b" t="t" l="l"/>
              <a:pathLst>
                <a:path h="533511" w="716799">
                  <a:moveTo>
                    <a:pt x="0" y="0"/>
                  </a:moveTo>
                  <a:lnTo>
                    <a:pt x="716799" y="0"/>
                  </a:lnTo>
                  <a:lnTo>
                    <a:pt x="716799" y="533511"/>
                  </a:lnTo>
                  <a:lnTo>
                    <a:pt x="0" y="533511"/>
                  </a:lnTo>
                  <a:lnTo>
                    <a:pt x="0" y="0"/>
                  </a:lnTo>
                  <a:close/>
                </a:path>
              </a:pathLst>
            </a:custGeom>
            <a:blipFill>
              <a:blip r:embed="rId4"/>
              <a:stretch>
                <a:fillRect l="0" t="-17177" r="0" b="-17177"/>
              </a:stretch>
            </a:blipFill>
          </p:spPr>
        </p:sp>
        <p:sp>
          <p:nvSpPr>
            <p:cNvPr name="Freeform 12" id="12"/>
            <p:cNvSpPr/>
            <p:nvPr/>
          </p:nvSpPr>
          <p:spPr>
            <a:xfrm flipH="false" flipV="false" rot="0">
              <a:off x="0" y="2275460"/>
              <a:ext cx="716799" cy="533511"/>
            </a:xfrm>
            <a:custGeom>
              <a:avLst/>
              <a:gdLst/>
              <a:ahLst/>
              <a:cxnLst/>
              <a:rect r="r" b="b" t="t" l="l"/>
              <a:pathLst>
                <a:path h="533511" w="716799">
                  <a:moveTo>
                    <a:pt x="0" y="0"/>
                  </a:moveTo>
                  <a:lnTo>
                    <a:pt x="716799" y="0"/>
                  </a:lnTo>
                  <a:lnTo>
                    <a:pt x="716799" y="533511"/>
                  </a:lnTo>
                  <a:lnTo>
                    <a:pt x="0" y="533511"/>
                  </a:lnTo>
                  <a:lnTo>
                    <a:pt x="0" y="0"/>
                  </a:lnTo>
                  <a:close/>
                </a:path>
              </a:pathLst>
            </a:custGeom>
            <a:blipFill>
              <a:blip r:embed="rId4"/>
              <a:stretch>
                <a:fillRect l="0" t="-17177" r="0" b="-17177"/>
              </a:stretch>
            </a:blipFill>
          </p:spPr>
        </p:sp>
        <p:sp>
          <p:nvSpPr>
            <p:cNvPr name="Freeform 13" id="13"/>
            <p:cNvSpPr/>
            <p:nvPr/>
          </p:nvSpPr>
          <p:spPr>
            <a:xfrm flipH="false" flipV="false" rot="0">
              <a:off x="0" y="3418571"/>
              <a:ext cx="716799" cy="533511"/>
            </a:xfrm>
            <a:custGeom>
              <a:avLst/>
              <a:gdLst/>
              <a:ahLst/>
              <a:cxnLst/>
              <a:rect r="r" b="b" t="t" l="l"/>
              <a:pathLst>
                <a:path h="533511" w="716799">
                  <a:moveTo>
                    <a:pt x="0" y="0"/>
                  </a:moveTo>
                  <a:lnTo>
                    <a:pt x="716799" y="0"/>
                  </a:lnTo>
                  <a:lnTo>
                    <a:pt x="716799" y="533511"/>
                  </a:lnTo>
                  <a:lnTo>
                    <a:pt x="0" y="533511"/>
                  </a:lnTo>
                  <a:lnTo>
                    <a:pt x="0" y="0"/>
                  </a:lnTo>
                  <a:close/>
                </a:path>
              </a:pathLst>
            </a:custGeom>
            <a:blipFill>
              <a:blip r:embed="rId4"/>
              <a:stretch>
                <a:fillRect l="0" t="-17177" r="0" b="-17177"/>
              </a:stretch>
            </a:blipFill>
          </p:spPr>
        </p:sp>
        <p:sp>
          <p:nvSpPr>
            <p:cNvPr name="Freeform 14" id="14"/>
            <p:cNvSpPr/>
            <p:nvPr/>
          </p:nvSpPr>
          <p:spPr>
            <a:xfrm flipH="false" flipV="false" rot="0">
              <a:off x="0" y="4561682"/>
              <a:ext cx="716799" cy="533511"/>
            </a:xfrm>
            <a:custGeom>
              <a:avLst/>
              <a:gdLst/>
              <a:ahLst/>
              <a:cxnLst/>
              <a:rect r="r" b="b" t="t" l="l"/>
              <a:pathLst>
                <a:path h="533511" w="716799">
                  <a:moveTo>
                    <a:pt x="0" y="0"/>
                  </a:moveTo>
                  <a:lnTo>
                    <a:pt x="716799" y="0"/>
                  </a:lnTo>
                  <a:lnTo>
                    <a:pt x="716799" y="533511"/>
                  </a:lnTo>
                  <a:lnTo>
                    <a:pt x="0" y="533511"/>
                  </a:lnTo>
                  <a:lnTo>
                    <a:pt x="0" y="0"/>
                  </a:lnTo>
                  <a:close/>
                </a:path>
              </a:pathLst>
            </a:custGeom>
            <a:blipFill>
              <a:blip r:embed="rId4"/>
              <a:stretch>
                <a:fillRect l="0" t="-17177" r="0" b="-17177"/>
              </a:stretch>
            </a:blipFill>
          </p:spPr>
        </p:sp>
        <p:sp>
          <p:nvSpPr>
            <p:cNvPr name="Freeform 15" id="15"/>
            <p:cNvSpPr/>
            <p:nvPr/>
          </p:nvSpPr>
          <p:spPr>
            <a:xfrm flipH="false" flipV="false" rot="0">
              <a:off x="0" y="5704793"/>
              <a:ext cx="716799" cy="533511"/>
            </a:xfrm>
            <a:custGeom>
              <a:avLst/>
              <a:gdLst/>
              <a:ahLst/>
              <a:cxnLst/>
              <a:rect r="r" b="b" t="t" l="l"/>
              <a:pathLst>
                <a:path h="533511" w="716799">
                  <a:moveTo>
                    <a:pt x="0" y="0"/>
                  </a:moveTo>
                  <a:lnTo>
                    <a:pt x="716799" y="0"/>
                  </a:lnTo>
                  <a:lnTo>
                    <a:pt x="716799" y="533510"/>
                  </a:lnTo>
                  <a:lnTo>
                    <a:pt x="0" y="533510"/>
                  </a:lnTo>
                  <a:lnTo>
                    <a:pt x="0" y="0"/>
                  </a:lnTo>
                  <a:close/>
                </a:path>
              </a:pathLst>
            </a:custGeom>
            <a:blipFill>
              <a:blip r:embed="rId4"/>
              <a:stretch>
                <a:fillRect l="0" t="-17177" r="0" b="-17177"/>
              </a:stretch>
            </a:blipFill>
          </p:spPr>
        </p:sp>
        <p:sp>
          <p:nvSpPr>
            <p:cNvPr name="Freeform 16" id="16"/>
            <p:cNvSpPr/>
            <p:nvPr/>
          </p:nvSpPr>
          <p:spPr>
            <a:xfrm flipH="false" flipV="false" rot="0">
              <a:off x="0" y="6847903"/>
              <a:ext cx="716799" cy="533511"/>
            </a:xfrm>
            <a:custGeom>
              <a:avLst/>
              <a:gdLst/>
              <a:ahLst/>
              <a:cxnLst/>
              <a:rect r="r" b="b" t="t" l="l"/>
              <a:pathLst>
                <a:path h="533511" w="716799">
                  <a:moveTo>
                    <a:pt x="0" y="0"/>
                  </a:moveTo>
                  <a:lnTo>
                    <a:pt x="716799" y="0"/>
                  </a:lnTo>
                  <a:lnTo>
                    <a:pt x="716799" y="533511"/>
                  </a:lnTo>
                  <a:lnTo>
                    <a:pt x="0" y="533511"/>
                  </a:lnTo>
                  <a:lnTo>
                    <a:pt x="0" y="0"/>
                  </a:lnTo>
                  <a:close/>
                </a:path>
              </a:pathLst>
            </a:custGeom>
            <a:blipFill>
              <a:blip r:embed="rId4"/>
              <a:stretch>
                <a:fillRect l="0" t="-17177" r="0" b="-17177"/>
              </a:stretch>
            </a:blipFill>
          </p:spPr>
        </p:sp>
        <p:sp>
          <p:nvSpPr>
            <p:cNvPr name="Freeform 17" id="17"/>
            <p:cNvSpPr/>
            <p:nvPr/>
          </p:nvSpPr>
          <p:spPr>
            <a:xfrm flipH="false" flipV="false" rot="0">
              <a:off x="0" y="7991014"/>
              <a:ext cx="716799" cy="533511"/>
            </a:xfrm>
            <a:custGeom>
              <a:avLst/>
              <a:gdLst/>
              <a:ahLst/>
              <a:cxnLst/>
              <a:rect r="r" b="b" t="t" l="l"/>
              <a:pathLst>
                <a:path h="533511" w="716799">
                  <a:moveTo>
                    <a:pt x="0" y="0"/>
                  </a:moveTo>
                  <a:lnTo>
                    <a:pt x="716799" y="0"/>
                  </a:lnTo>
                  <a:lnTo>
                    <a:pt x="716799" y="533511"/>
                  </a:lnTo>
                  <a:lnTo>
                    <a:pt x="0" y="533511"/>
                  </a:lnTo>
                  <a:lnTo>
                    <a:pt x="0" y="0"/>
                  </a:lnTo>
                  <a:close/>
                </a:path>
              </a:pathLst>
            </a:custGeom>
            <a:blipFill>
              <a:blip r:embed="rId4"/>
              <a:stretch>
                <a:fillRect l="0" t="-17177" r="0" b="-17177"/>
              </a:stretch>
            </a:blipFill>
          </p:spPr>
        </p:sp>
        <p:sp>
          <p:nvSpPr>
            <p:cNvPr name="Freeform 18" id="18"/>
            <p:cNvSpPr/>
            <p:nvPr/>
          </p:nvSpPr>
          <p:spPr>
            <a:xfrm flipH="false" flipV="false" rot="0">
              <a:off x="0" y="9134125"/>
              <a:ext cx="716799" cy="533511"/>
            </a:xfrm>
            <a:custGeom>
              <a:avLst/>
              <a:gdLst/>
              <a:ahLst/>
              <a:cxnLst/>
              <a:rect r="r" b="b" t="t" l="l"/>
              <a:pathLst>
                <a:path h="533511" w="716799">
                  <a:moveTo>
                    <a:pt x="0" y="0"/>
                  </a:moveTo>
                  <a:lnTo>
                    <a:pt x="716799" y="0"/>
                  </a:lnTo>
                  <a:lnTo>
                    <a:pt x="716799" y="533511"/>
                  </a:lnTo>
                  <a:lnTo>
                    <a:pt x="0" y="533511"/>
                  </a:lnTo>
                  <a:lnTo>
                    <a:pt x="0" y="0"/>
                  </a:lnTo>
                  <a:close/>
                </a:path>
              </a:pathLst>
            </a:custGeom>
            <a:blipFill>
              <a:blip r:embed="rId4"/>
              <a:stretch>
                <a:fillRect l="0" t="-17177" r="0" b="-17177"/>
              </a:stretch>
            </a:blipFill>
          </p:spPr>
        </p:sp>
      </p:grpSp>
    </p:spTree>
  </p:cSld>
  <p:clrMapOvr>
    <a:masterClrMapping/>
  </p:clrMapOvr>
  <p:transition spd="slow">
    <p:cover dir="lu"/>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grpSp>
        <p:nvGrpSpPr>
          <p:cNvPr name="Group 3" id="3"/>
          <p:cNvGrpSpPr/>
          <p:nvPr/>
        </p:nvGrpSpPr>
        <p:grpSpPr>
          <a:xfrm rot="0">
            <a:off x="1028700" y="3564084"/>
            <a:ext cx="9262503" cy="5322061"/>
            <a:chOff x="0" y="0"/>
            <a:chExt cx="12350004" cy="7096081"/>
          </a:xfrm>
        </p:grpSpPr>
        <p:grpSp>
          <p:nvGrpSpPr>
            <p:cNvPr name="Group 4" id="4"/>
            <p:cNvGrpSpPr/>
            <p:nvPr/>
          </p:nvGrpSpPr>
          <p:grpSpPr>
            <a:xfrm rot="0">
              <a:off x="0" y="0"/>
              <a:ext cx="12350004" cy="7096081"/>
              <a:chOff x="0" y="0"/>
              <a:chExt cx="4324768" cy="2484931"/>
            </a:xfrm>
          </p:grpSpPr>
          <p:sp>
            <p:nvSpPr>
              <p:cNvPr name="Freeform 5" id="5"/>
              <p:cNvSpPr/>
              <p:nvPr/>
            </p:nvSpPr>
            <p:spPr>
              <a:xfrm flipH="false" flipV="false" rot="0">
                <a:off x="0" y="0"/>
                <a:ext cx="4324768" cy="2484931"/>
              </a:xfrm>
              <a:custGeom>
                <a:avLst/>
                <a:gdLst/>
                <a:ahLst/>
                <a:cxnLst/>
                <a:rect r="r" b="b" t="t" l="l"/>
                <a:pathLst>
                  <a:path h="2484931" w="4324768">
                    <a:moveTo>
                      <a:pt x="33433" y="0"/>
                    </a:moveTo>
                    <a:lnTo>
                      <a:pt x="4291335" y="0"/>
                    </a:lnTo>
                    <a:cubicBezTo>
                      <a:pt x="4309799" y="0"/>
                      <a:pt x="4324768" y="14969"/>
                      <a:pt x="4324768" y="33433"/>
                    </a:cubicBezTo>
                    <a:lnTo>
                      <a:pt x="4324768" y="2451497"/>
                    </a:lnTo>
                    <a:cubicBezTo>
                      <a:pt x="4324768" y="2469962"/>
                      <a:pt x="4309799" y="2484931"/>
                      <a:pt x="4291335" y="2484931"/>
                    </a:cubicBezTo>
                    <a:lnTo>
                      <a:pt x="33433" y="2484931"/>
                    </a:lnTo>
                    <a:cubicBezTo>
                      <a:pt x="14969" y="2484931"/>
                      <a:pt x="0" y="2469962"/>
                      <a:pt x="0" y="2451497"/>
                    </a:cubicBezTo>
                    <a:lnTo>
                      <a:pt x="0" y="33433"/>
                    </a:lnTo>
                    <a:cubicBezTo>
                      <a:pt x="0" y="14969"/>
                      <a:pt x="14969" y="0"/>
                      <a:pt x="33433" y="0"/>
                    </a:cubicBezTo>
                    <a:close/>
                  </a:path>
                </a:pathLst>
              </a:custGeom>
              <a:gradFill rotWithShape="true">
                <a:gsLst>
                  <a:gs pos="0">
                    <a:srgbClr val="03295A">
                      <a:alpha val="43400"/>
                    </a:srgbClr>
                  </a:gs>
                  <a:gs pos="100000">
                    <a:srgbClr val="041468">
                      <a:alpha val="52150"/>
                    </a:srgbClr>
                  </a:gs>
                </a:gsLst>
                <a:lin ang="0"/>
              </a:gradFill>
              <a:ln w="38100" cap="rnd">
                <a:gradFill>
                  <a:gsLst>
                    <a:gs pos="0">
                      <a:srgbClr val="A6A6A6">
                        <a:alpha val="70000"/>
                      </a:srgbClr>
                    </a:gs>
                    <a:gs pos="100000">
                      <a:srgbClr val="FFFFFF">
                        <a:alpha val="70000"/>
                      </a:srgbClr>
                    </a:gs>
                  </a:gsLst>
                  <a:lin ang="0"/>
                </a:gradFill>
                <a:prstDash val="solid"/>
                <a:round/>
              </a:ln>
            </p:spPr>
          </p:sp>
          <p:sp>
            <p:nvSpPr>
              <p:cNvPr name="TextBox 6" id="6"/>
              <p:cNvSpPr txBox="true"/>
              <p:nvPr/>
            </p:nvSpPr>
            <p:spPr>
              <a:xfrm>
                <a:off x="0" y="-47625"/>
                <a:ext cx="4324768" cy="2532556"/>
              </a:xfrm>
              <a:prstGeom prst="rect">
                <a:avLst/>
              </a:prstGeom>
            </p:spPr>
            <p:txBody>
              <a:bodyPr anchor="ctr" rtlCol="false" tIns="50800" lIns="50800" bIns="50800" rIns="50800"/>
              <a:lstStyle/>
              <a:p>
                <a:pPr algn="ctr">
                  <a:lnSpc>
                    <a:spcPts val="2800"/>
                  </a:lnSpc>
                </a:pPr>
              </a:p>
            </p:txBody>
          </p:sp>
        </p:grpSp>
        <p:sp>
          <p:nvSpPr>
            <p:cNvPr name="TextBox 7" id="7"/>
            <p:cNvSpPr txBox="true"/>
            <p:nvPr/>
          </p:nvSpPr>
          <p:spPr>
            <a:xfrm rot="0">
              <a:off x="529325" y="659024"/>
              <a:ext cx="11239998" cy="5795433"/>
            </a:xfrm>
            <a:prstGeom prst="rect">
              <a:avLst/>
            </a:prstGeom>
          </p:spPr>
          <p:txBody>
            <a:bodyPr anchor="t" rtlCol="false" tIns="0" lIns="0" bIns="0" rIns="0">
              <a:spAutoFit/>
            </a:bodyPr>
            <a:lstStyle/>
            <a:p>
              <a:pPr algn="l">
                <a:lnSpc>
                  <a:spcPts val="3499"/>
                </a:lnSpc>
              </a:pPr>
              <a:r>
                <a:rPr lang="en-US" sz="2499" spc="39">
                  <a:solidFill>
                    <a:srgbClr val="FFFFFF"/>
                  </a:solidFill>
                  <a:latin typeface="Roca One"/>
                  <a:ea typeface="Roca One"/>
                  <a:cs typeface="Roca One"/>
                  <a:sym typeface="Roca One"/>
                </a:rPr>
                <a:t>Digital documents &amp; images often contain valuable text that is:</a:t>
              </a:r>
            </a:p>
            <a:p>
              <a:pPr algn="l" marL="539749" indent="-269875" lvl="1">
                <a:lnSpc>
                  <a:spcPts val="3499"/>
                </a:lnSpc>
                <a:buAutoNum type="arabicPeriod" startAt="1"/>
              </a:pPr>
              <a:r>
                <a:rPr lang="en-US" sz="2499" spc="39">
                  <a:solidFill>
                    <a:srgbClr val="FFFFFF"/>
                  </a:solidFill>
                  <a:latin typeface="Roca One"/>
                  <a:ea typeface="Roca One"/>
                  <a:cs typeface="Roca One"/>
                  <a:sym typeface="Roca One"/>
                </a:rPr>
                <a:t> Hard to search</a:t>
              </a:r>
            </a:p>
            <a:p>
              <a:pPr algn="l" marL="539749" indent="-269875" lvl="1">
                <a:lnSpc>
                  <a:spcPts val="3499"/>
                </a:lnSpc>
                <a:buAutoNum type="arabicPeriod" startAt="1"/>
              </a:pPr>
              <a:r>
                <a:rPr lang="en-US" sz="2499" spc="39">
                  <a:solidFill>
                    <a:srgbClr val="FFFFFF"/>
                  </a:solidFill>
                  <a:latin typeface="Roca One"/>
                  <a:ea typeface="Roca One"/>
                  <a:cs typeface="Roca One"/>
                  <a:sym typeface="Roca One"/>
                </a:rPr>
                <a:t> Hard to copy</a:t>
              </a:r>
            </a:p>
            <a:p>
              <a:pPr algn="l" marL="539749" indent="-269875" lvl="1">
                <a:lnSpc>
                  <a:spcPts val="3499"/>
                </a:lnSpc>
                <a:buAutoNum type="arabicPeriod" startAt="1"/>
              </a:pPr>
              <a:r>
                <a:rPr lang="en-US" sz="2499" spc="39">
                  <a:solidFill>
                    <a:srgbClr val="FFFFFF"/>
                  </a:solidFill>
                  <a:latin typeface="Roca One"/>
                  <a:ea typeface="Roca One"/>
                  <a:cs typeface="Roca One"/>
                  <a:sym typeface="Roca One"/>
                </a:rPr>
                <a:t> Not machine-readable</a:t>
              </a:r>
            </a:p>
            <a:p>
              <a:pPr algn="l">
                <a:lnSpc>
                  <a:spcPts val="3499"/>
                </a:lnSpc>
              </a:pPr>
            </a:p>
            <a:p>
              <a:pPr algn="l">
                <a:lnSpc>
                  <a:spcPts val="3499"/>
                </a:lnSpc>
              </a:pPr>
              <a:r>
                <a:rPr lang="en-US" sz="2499" spc="39">
                  <a:solidFill>
                    <a:srgbClr val="FFFFFF"/>
                  </a:solidFill>
                  <a:latin typeface="Roca One"/>
                  <a:ea typeface="Roca One"/>
                  <a:cs typeface="Roca One"/>
                  <a:sym typeface="Roca One"/>
                </a:rPr>
                <a:t> </a:t>
              </a:r>
              <a:r>
                <a:rPr lang="en-US" sz="2499" spc="39">
                  <a:solidFill>
                    <a:srgbClr val="FFFFFF"/>
                  </a:solidFill>
                  <a:latin typeface="Roca One"/>
                  <a:ea typeface="Roca One"/>
                  <a:cs typeface="Roca One"/>
                  <a:sym typeface="Roca One"/>
                </a:rPr>
                <a:t>DebAI solves this by:</a:t>
              </a:r>
            </a:p>
            <a:p>
              <a:pPr algn="l">
                <a:lnSpc>
                  <a:spcPts val="3499"/>
                </a:lnSpc>
              </a:pPr>
              <a:r>
                <a:rPr lang="en-US" sz="2499" spc="39">
                  <a:solidFill>
                    <a:srgbClr val="FFFFFF"/>
                  </a:solidFill>
                  <a:latin typeface="Roca One"/>
                  <a:ea typeface="Roca One"/>
                  <a:cs typeface="Roca One"/>
                  <a:sym typeface="Roca One"/>
                </a:rPr>
                <a:t> ✔ Converting real-world text → Digital text</a:t>
              </a:r>
            </a:p>
            <a:p>
              <a:pPr algn="l">
                <a:lnSpc>
                  <a:spcPts val="3499"/>
                </a:lnSpc>
              </a:pPr>
              <a:r>
                <a:rPr lang="en-US" sz="2499" spc="39">
                  <a:solidFill>
                    <a:srgbClr val="FFFFFF"/>
                  </a:solidFill>
                  <a:latin typeface="Roca One"/>
                  <a:ea typeface="Roca One"/>
                  <a:cs typeface="Roca One"/>
                  <a:sym typeface="Roca One"/>
                </a:rPr>
                <a:t> ✔ Automating response generation</a:t>
              </a:r>
            </a:p>
            <a:p>
              <a:pPr algn="l">
                <a:lnSpc>
                  <a:spcPts val="3499"/>
                </a:lnSpc>
              </a:pPr>
              <a:r>
                <a:rPr lang="en-US" sz="2499" spc="39">
                  <a:solidFill>
                    <a:srgbClr val="FFFFFF"/>
                  </a:solidFill>
                  <a:latin typeface="Roca One"/>
                  <a:ea typeface="Roca One"/>
                  <a:cs typeface="Roca One"/>
                  <a:sym typeface="Roca One"/>
                </a:rPr>
                <a:t> ✔ Supporting research, accessibility, and productivity</a:t>
              </a:r>
            </a:p>
          </p:txBody>
        </p:sp>
      </p:grpSp>
      <p:grpSp>
        <p:nvGrpSpPr>
          <p:cNvPr name="Group 8" id="8"/>
          <p:cNvGrpSpPr/>
          <p:nvPr/>
        </p:nvGrpSpPr>
        <p:grpSpPr>
          <a:xfrm rot="0">
            <a:off x="11054489" y="1400855"/>
            <a:ext cx="6204811" cy="7485289"/>
            <a:chOff x="0" y="0"/>
            <a:chExt cx="958406" cy="1156192"/>
          </a:xfrm>
        </p:grpSpPr>
        <p:sp>
          <p:nvSpPr>
            <p:cNvPr name="Freeform 9" id="9"/>
            <p:cNvSpPr/>
            <p:nvPr/>
          </p:nvSpPr>
          <p:spPr>
            <a:xfrm flipH="false" flipV="false" rot="0">
              <a:off x="0" y="0"/>
              <a:ext cx="958406" cy="1156192"/>
            </a:xfrm>
            <a:custGeom>
              <a:avLst/>
              <a:gdLst/>
              <a:ahLst/>
              <a:cxnLst/>
              <a:rect r="r" b="b" t="t" l="l"/>
              <a:pathLst>
                <a:path h="1156192" w="958406">
                  <a:moveTo>
                    <a:pt x="98571" y="0"/>
                  </a:moveTo>
                  <a:lnTo>
                    <a:pt x="859836" y="0"/>
                  </a:lnTo>
                  <a:cubicBezTo>
                    <a:pt x="914275" y="0"/>
                    <a:pt x="958406" y="44132"/>
                    <a:pt x="958406" y="98571"/>
                  </a:cubicBezTo>
                  <a:lnTo>
                    <a:pt x="958406" y="1057621"/>
                  </a:lnTo>
                  <a:cubicBezTo>
                    <a:pt x="958406" y="1112060"/>
                    <a:pt x="914275" y="1156192"/>
                    <a:pt x="859836" y="1156192"/>
                  </a:cubicBezTo>
                  <a:lnTo>
                    <a:pt x="98571" y="1156192"/>
                  </a:lnTo>
                  <a:cubicBezTo>
                    <a:pt x="44132" y="1156192"/>
                    <a:pt x="0" y="1112060"/>
                    <a:pt x="0" y="1057621"/>
                  </a:cubicBezTo>
                  <a:lnTo>
                    <a:pt x="0" y="98571"/>
                  </a:lnTo>
                  <a:cubicBezTo>
                    <a:pt x="0" y="44132"/>
                    <a:pt x="44132" y="0"/>
                    <a:pt x="98571" y="0"/>
                  </a:cubicBezTo>
                  <a:close/>
                </a:path>
              </a:pathLst>
            </a:custGeom>
            <a:blipFill>
              <a:blip r:embed="rId3"/>
              <a:stretch>
                <a:fillRect l="-7718" t="0" r="-12917" b="0"/>
              </a:stretch>
            </a:blipFill>
            <a:ln w="47625" cap="rnd">
              <a:solidFill>
                <a:srgbClr val="FFFFFF"/>
              </a:solidFill>
              <a:prstDash val="solid"/>
              <a:round/>
            </a:ln>
          </p:spPr>
        </p:sp>
      </p:grpSp>
      <p:grpSp>
        <p:nvGrpSpPr>
          <p:cNvPr name="Group 10" id="10"/>
          <p:cNvGrpSpPr/>
          <p:nvPr/>
        </p:nvGrpSpPr>
        <p:grpSpPr>
          <a:xfrm rot="0">
            <a:off x="1142909" y="1400855"/>
            <a:ext cx="9034084" cy="867410"/>
            <a:chOff x="0" y="0"/>
            <a:chExt cx="12045446" cy="1156547"/>
          </a:xfrm>
        </p:grpSpPr>
        <p:sp>
          <p:nvSpPr>
            <p:cNvPr name="TextBox 11" id="11"/>
            <p:cNvSpPr txBox="true"/>
            <p:nvPr/>
          </p:nvSpPr>
          <p:spPr>
            <a:xfrm rot="0">
              <a:off x="54" y="66675"/>
              <a:ext cx="12045339" cy="1039072"/>
            </a:xfrm>
            <a:prstGeom prst="rect">
              <a:avLst/>
            </a:prstGeom>
          </p:spPr>
          <p:txBody>
            <a:bodyPr anchor="t" rtlCol="false" tIns="0" lIns="0" bIns="0" rIns="0">
              <a:spAutoFit/>
            </a:bodyPr>
            <a:lstStyle/>
            <a:p>
              <a:pPr algn="ctr">
                <a:lnSpc>
                  <a:spcPts val="5994"/>
                </a:lnSpc>
              </a:pPr>
              <a:r>
                <a:rPr lang="en-US" sz="5499" b="true">
                  <a:solidFill>
                    <a:srgbClr val="FFFFFF"/>
                  </a:solidFill>
                  <a:latin typeface="Roca One Ultra-Bold"/>
                  <a:ea typeface="Roca One Ultra-Bold"/>
                  <a:cs typeface="Roca One Ultra-Bold"/>
                  <a:sym typeface="Roca One Ultra-Bold"/>
                </a:rPr>
                <a:t>Introduction &amp; Motivation</a:t>
              </a:r>
            </a:p>
          </p:txBody>
        </p:sp>
        <p:sp>
          <p:nvSpPr>
            <p:cNvPr name="AutoShape 12" id="12"/>
            <p:cNvSpPr/>
            <p:nvPr/>
          </p:nvSpPr>
          <p:spPr>
            <a:xfrm>
              <a:off x="54" y="1131147"/>
              <a:ext cx="12045339" cy="0"/>
            </a:xfrm>
            <a:prstGeom prst="line">
              <a:avLst/>
            </a:prstGeom>
            <a:ln cap="flat" w="50800">
              <a:solidFill>
                <a:srgbClr val="FFFFFF"/>
              </a:solidFill>
              <a:prstDash val="solid"/>
              <a:headEnd type="diamond" len="lg" w="lg"/>
              <a:tailEnd type="diamond" len="lg" w="lg"/>
            </a:ln>
          </p:spPr>
        </p:sp>
      </p:grpSp>
    </p:spTree>
  </p:cSld>
  <p:clrMapOvr>
    <a:masterClrMapping/>
  </p:clrMapOvr>
  <p:transition spd="slow">
    <p:cover dir="lu"/>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9144000" y="1703010"/>
            <a:ext cx="8797492" cy="7878053"/>
            <a:chOff x="0" y="0"/>
            <a:chExt cx="4107649" cy="3678352"/>
          </a:xfrm>
        </p:grpSpPr>
        <p:sp>
          <p:nvSpPr>
            <p:cNvPr name="Freeform 4" id="4"/>
            <p:cNvSpPr/>
            <p:nvPr/>
          </p:nvSpPr>
          <p:spPr>
            <a:xfrm flipH="false" flipV="false" rot="0">
              <a:off x="0" y="0"/>
              <a:ext cx="4107649" cy="3678353"/>
            </a:xfrm>
            <a:custGeom>
              <a:avLst/>
              <a:gdLst/>
              <a:ahLst/>
              <a:cxnLst/>
              <a:rect r="r" b="b" t="t" l="l"/>
              <a:pathLst>
                <a:path h="3678353" w="4107649">
                  <a:moveTo>
                    <a:pt x="22000" y="0"/>
                  </a:moveTo>
                  <a:lnTo>
                    <a:pt x="4085649" y="0"/>
                  </a:lnTo>
                  <a:cubicBezTo>
                    <a:pt x="4097799" y="0"/>
                    <a:pt x="4107649" y="9850"/>
                    <a:pt x="4107649" y="22000"/>
                  </a:cubicBezTo>
                  <a:lnTo>
                    <a:pt x="4107649" y="3656352"/>
                  </a:lnTo>
                  <a:cubicBezTo>
                    <a:pt x="4107649" y="3668503"/>
                    <a:pt x="4097799" y="3678353"/>
                    <a:pt x="4085649" y="3678353"/>
                  </a:cubicBezTo>
                  <a:lnTo>
                    <a:pt x="22000" y="3678353"/>
                  </a:lnTo>
                  <a:cubicBezTo>
                    <a:pt x="9850" y="3678353"/>
                    <a:pt x="0" y="3668503"/>
                    <a:pt x="0" y="3656352"/>
                  </a:cubicBezTo>
                  <a:lnTo>
                    <a:pt x="0" y="22000"/>
                  </a:lnTo>
                  <a:cubicBezTo>
                    <a:pt x="0" y="9850"/>
                    <a:pt x="9850" y="0"/>
                    <a:pt x="22000" y="0"/>
                  </a:cubicBezTo>
                  <a:close/>
                </a:path>
              </a:pathLst>
            </a:custGeom>
            <a:gradFill rotWithShape="true">
              <a:gsLst>
                <a:gs pos="0">
                  <a:srgbClr val="03295A">
                    <a:alpha val="62000"/>
                  </a:srgbClr>
                </a:gs>
                <a:gs pos="100000">
                  <a:srgbClr val="041468">
                    <a:alpha val="74500"/>
                  </a:srgbClr>
                </a:gs>
              </a:gsLst>
              <a:lin ang="0"/>
            </a:gradFill>
            <a:ln w="38100" cap="rnd">
              <a:gradFill>
                <a:gsLst>
                  <a:gs pos="0">
                    <a:srgbClr val="A6A6A6">
                      <a:alpha val="100000"/>
                    </a:srgbClr>
                  </a:gs>
                  <a:gs pos="100000">
                    <a:srgbClr val="FFFFFF">
                      <a:alpha val="100000"/>
                    </a:srgbClr>
                  </a:gs>
                </a:gsLst>
                <a:lin ang="0"/>
              </a:gradFill>
              <a:prstDash val="solid"/>
              <a:round/>
            </a:ln>
          </p:spPr>
        </p:sp>
        <p:sp>
          <p:nvSpPr>
            <p:cNvPr name="TextBox 5" id="5"/>
            <p:cNvSpPr txBox="true"/>
            <p:nvPr/>
          </p:nvSpPr>
          <p:spPr>
            <a:xfrm>
              <a:off x="0" y="-38100"/>
              <a:ext cx="4107649" cy="3716452"/>
            </a:xfrm>
            <a:prstGeom prst="rect">
              <a:avLst/>
            </a:prstGeom>
          </p:spPr>
          <p:txBody>
            <a:bodyPr anchor="ctr" rtlCol="false" tIns="50800" lIns="50800" bIns="50800" rIns="50800"/>
            <a:lstStyle/>
            <a:p>
              <a:pPr algn="l" marL="453390" indent="-226695" lvl="1">
                <a:lnSpc>
                  <a:spcPts val="2940"/>
                </a:lnSpc>
                <a:buFont typeface="Arial"/>
                <a:buChar char="•"/>
              </a:pPr>
              <a:r>
                <a:rPr lang="en-US" b="true" sz="2100" spc="33">
                  <a:solidFill>
                    <a:srgbClr val="FFFFFF"/>
                  </a:solidFill>
                  <a:latin typeface="Roca One Heavy"/>
                  <a:ea typeface="Roca One Heavy"/>
                  <a:cs typeface="Roca One Heavy"/>
                  <a:sym typeface="Roca One Heavy"/>
                </a:rPr>
                <a:t>Streamlit </a:t>
              </a:r>
              <a:r>
                <a:rPr lang="en-US" sz="2100" spc="33">
                  <a:solidFill>
                    <a:srgbClr val="FFFFFF"/>
                  </a:solidFill>
                  <a:latin typeface="Roca One"/>
                  <a:ea typeface="Roca One"/>
                  <a:cs typeface="Roca One"/>
                  <a:sym typeface="Roca One"/>
                </a:rPr>
                <a:t>: </a:t>
              </a:r>
              <a:r>
                <a:rPr lang="en-US" sz="2100" spc="33">
                  <a:solidFill>
                    <a:srgbClr val="FFFFFF"/>
                  </a:solidFill>
                  <a:latin typeface="Roca One Light"/>
                  <a:ea typeface="Roca One Light"/>
                  <a:cs typeface="Roca One Light"/>
                  <a:sym typeface="Roca One Light"/>
                </a:rPr>
                <a:t>Used to build the interactive user interface quickly without requiring advanced front-end development.</a:t>
              </a:r>
            </a:p>
            <a:p>
              <a:pPr algn="l">
                <a:lnSpc>
                  <a:spcPts val="2940"/>
                </a:lnSpc>
              </a:pPr>
            </a:p>
            <a:p>
              <a:pPr algn="l" marL="453390" indent="-226695" lvl="1">
                <a:lnSpc>
                  <a:spcPts val="2940"/>
                </a:lnSpc>
                <a:buFont typeface="Arial"/>
                <a:buChar char="•"/>
              </a:pPr>
              <a:r>
                <a:rPr lang="en-US" b="true" sz="2100" spc="33">
                  <a:solidFill>
                    <a:srgbClr val="FFFFFF"/>
                  </a:solidFill>
                  <a:latin typeface="Roca One Heavy"/>
                  <a:ea typeface="Roca One Heavy"/>
                  <a:cs typeface="Roca One Heavy"/>
                  <a:sym typeface="Roca One Heavy"/>
                </a:rPr>
                <a:t>Tesseract OCR</a:t>
              </a:r>
              <a:r>
                <a:rPr lang="en-US" sz="2100" spc="33">
                  <a:solidFill>
                    <a:srgbClr val="FFFFFF"/>
                  </a:solidFill>
                  <a:latin typeface="Roca One"/>
                  <a:ea typeface="Roca One"/>
                  <a:cs typeface="Roca One"/>
                  <a:sym typeface="Roca One"/>
                </a:rPr>
                <a:t> : </a:t>
              </a:r>
              <a:r>
                <a:rPr lang="en-US" sz="2100" spc="33">
                  <a:solidFill>
                    <a:srgbClr val="FFFFFF"/>
                  </a:solidFill>
                  <a:latin typeface="Roca One Light"/>
                  <a:ea typeface="Roca One Light"/>
                  <a:cs typeface="Roca One Light"/>
                  <a:sym typeface="Roca One Light"/>
                </a:rPr>
                <a:t>Responsible for extracting text from images using powerful open-source OCR capabilities.</a:t>
              </a:r>
            </a:p>
            <a:p>
              <a:pPr algn="l">
                <a:lnSpc>
                  <a:spcPts val="2940"/>
                </a:lnSpc>
              </a:pPr>
            </a:p>
            <a:p>
              <a:pPr algn="l" marL="453390" indent="-226695" lvl="1">
                <a:lnSpc>
                  <a:spcPts val="2940"/>
                </a:lnSpc>
                <a:buFont typeface="Arial"/>
                <a:buChar char="•"/>
              </a:pPr>
              <a:r>
                <a:rPr lang="en-US" b="true" sz="2100" spc="33">
                  <a:solidFill>
                    <a:srgbClr val="FFFFFF"/>
                  </a:solidFill>
                  <a:latin typeface="Roca One Heavy"/>
                  <a:ea typeface="Roca One Heavy"/>
                  <a:cs typeface="Roca One Heavy"/>
                  <a:sym typeface="Roca One Heavy"/>
                </a:rPr>
                <a:t>pdfplumber </a:t>
              </a:r>
              <a:r>
                <a:rPr lang="en-US" sz="2100" spc="33">
                  <a:solidFill>
                    <a:srgbClr val="FFFFFF"/>
                  </a:solidFill>
                  <a:latin typeface="Roca One"/>
                  <a:ea typeface="Roca One"/>
                  <a:cs typeface="Roca One"/>
                  <a:sym typeface="Roca One"/>
                </a:rPr>
                <a:t>: </a:t>
              </a:r>
              <a:r>
                <a:rPr lang="en-US" sz="2100" spc="33">
                  <a:solidFill>
                    <a:srgbClr val="FFFFFF"/>
                  </a:solidFill>
                  <a:latin typeface="Roca One Light"/>
                  <a:ea typeface="Roca One Light"/>
                  <a:cs typeface="Roca One Light"/>
                  <a:sym typeface="Roca One Light"/>
                </a:rPr>
                <a:t>Reads and extracts digital text directly from PDFs and automatically switches to OCR if the text is not selectable.</a:t>
              </a:r>
            </a:p>
            <a:p>
              <a:pPr algn="l">
                <a:lnSpc>
                  <a:spcPts val="2940"/>
                </a:lnSpc>
              </a:pPr>
            </a:p>
            <a:p>
              <a:pPr algn="l" marL="453390" indent="-226695" lvl="1">
                <a:lnSpc>
                  <a:spcPts val="2940"/>
                </a:lnSpc>
                <a:buFont typeface="Arial"/>
                <a:buChar char="•"/>
              </a:pPr>
              <a:r>
                <a:rPr lang="en-US" b="true" sz="2100" spc="33">
                  <a:solidFill>
                    <a:srgbClr val="FFFFFF"/>
                  </a:solidFill>
                  <a:latin typeface="Roca One Heavy"/>
                  <a:ea typeface="Roca One Heavy"/>
                  <a:cs typeface="Roca One Heavy"/>
                  <a:sym typeface="Roca One Heavy"/>
                </a:rPr>
                <a:t>Pillow (PIL)</a:t>
              </a:r>
              <a:r>
                <a:rPr lang="en-US" sz="2100" spc="33">
                  <a:solidFill>
                    <a:srgbClr val="FFFFFF"/>
                  </a:solidFill>
                  <a:latin typeface="Roca One"/>
                  <a:ea typeface="Roca One"/>
                  <a:cs typeface="Roca One"/>
                  <a:sym typeface="Roca One"/>
                </a:rPr>
                <a:t> : </a:t>
              </a:r>
              <a:r>
                <a:rPr lang="en-US" sz="2100" spc="33">
                  <a:solidFill>
                    <a:srgbClr val="FFFFFF"/>
                  </a:solidFill>
                  <a:latin typeface="Roca One Light"/>
                  <a:ea typeface="Roca One Light"/>
                  <a:cs typeface="Roca One Light"/>
                  <a:sym typeface="Roca One Light"/>
                </a:rPr>
                <a:t>Handles image loading, processing, and display inside the application.</a:t>
              </a:r>
            </a:p>
            <a:p>
              <a:pPr algn="l">
                <a:lnSpc>
                  <a:spcPts val="2940"/>
                </a:lnSpc>
              </a:pPr>
            </a:p>
            <a:p>
              <a:pPr algn="l" marL="453390" indent="-226695" lvl="1">
                <a:lnSpc>
                  <a:spcPts val="2940"/>
                </a:lnSpc>
                <a:buFont typeface="Arial"/>
                <a:buChar char="•"/>
              </a:pPr>
              <a:r>
                <a:rPr lang="en-US" b="true" sz="2100" spc="33">
                  <a:solidFill>
                    <a:srgbClr val="FFFFFF"/>
                  </a:solidFill>
                  <a:latin typeface="Roca One Heavy"/>
                  <a:ea typeface="Roca One Heavy"/>
                  <a:cs typeface="Roca One Heavy"/>
                  <a:sym typeface="Roca One Heavy"/>
                </a:rPr>
                <a:t>Ollama (Model: gemma3:1b)</a:t>
              </a:r>
              <a:r>
                <a:rPr lang="en-US" sz="2100" spc="33">
                  <a:solidFill>
                    <a:srgbClr val="FFFFFF"/>
                  </a:solidFill>
                  <a:latin typeface="Roca One"/>
                  <a:ea typeface="Roca One"/>
                  <a:cs typeface="Roca One"/>
                  <a:sym typeface="Roca One"/>
                </a:rPr>
                <a:t> : </a:t>
              </a:r>
              <a:r>
                <a:rPr lang="en-US" sz="2100" spc="33">
                  <a:solidFill>
                    <a:srgbClr val="FFFFFF"/>
                  </a:solidFill>
                  <a:latin typeface="Roca One Light"/>
                  <a:ea typeface="Roca One Light"/>
                  <a:cs typeface="Roca One Light"/>
                  <a:sym typeface="Roca One Light"/>
                </a:rPr>
                <a:t>Provides fully offline conversational AI intelligence, ensuring privacy and security for the user’s data.</a:t>
              </a:r>
            </a:p>
            <a:p>
              <a:pPr algn="l">
                <a:lnSpc>
                  <a:spcPts val="2940"/>
                </a:lnSpc>
              </a:pPr>
            </a:p>
            <a:p>
              <a:pPr algn="l" marL="453390" indent="-226695" lvl="1">
                <a:lnSpc>
                  <a:spcPts val="2940"/>
                </a:lnSpc>
                <a:buFont typeface="Arial"/>
                <a:buChar char="•"/>
              </a:pPr>
              <a:r>
                <a:rPr lang="en-US" b="true" sz="2100" spc="33">
                  <a:solidFill>
                    <a:srgbClr val="FFFFFF"/>
                  </a:solidFill>
                  <a:latin typeface="Roca One Heavy"/>
                  <a:ea typeface="Roca One Heavy"/>
                  <a:cs typeface="Roca One Heavy"/>
                  <a:sym typeface="Roca One Heavy"/>
                </a:rPr>
                <a:t>Streamlit Session State</a:t>
              </a:r>
              <a:r>
                <a:rPr lang="en-US" sz="2100" spc="33">
                  <a:solidFill>
                    <a:srgbClr val="FFFFFF"/>
                  </a:solidFill>
                  <a:latin typeface="Roca One"/>
                  <a:ea typeface="Roca One"/>
                  <a:cs typeface="Roca One"/>
                  <a:sym typeface="Roca One"/>
                </a:rPr>
                <a:t> : </a:t>
              </a:r>
              <a:r>
                <a:rPr lang="en-US" sz="2100" spc="33">
                  <a:solidFill>
                    <a:srgbClr val="FFFFFF"/>
                  </a:solidFill>
                  <a:latin typeface="Roca One Light"/>
                  <a:ea typeface="Roca One Light"/>
                  <a:cs typeface="Roca One Light"/>
                  <a:sym typeface="Roca One Light"/>
                </a:rPr>
                <a:t>Manages chat history and OCR text persistence to ensure smooth interaction between multiple actions.</a:t>
              </a:r>
            </a:p>
          </p:txBody>
        </p:sp>
      </p:grpSp>
      <p:sp>
        <p:nvSpPr>
          <p:cNvPr name="Freeform 6" id="6"/>
          <p:cNvSpPr/>
          <p:nvPr/>
        </p:nvSpPr>
        <p:spPr>
          <a:xfrm flipH="false" flipV="false" rot="0">
            <a:off x="392503" y="5257730"/>
            <a:ext cx="7703043" cy="4323333"/>
          </a:xfrm>
          <a:custGeom>
            <a:avLst/>
            <a:gdLst/>
            <a:ahLst/>
            <a:cxnLst/>
            <a:rect r="r" b="b" t="t" l="l"/>
            <a:pathLst>
              <a:path h="4323333" w="7703043">
                <a:moveTo>
                  <a:pt x="0" y="0"/>
                </a:moveTo>
                <a:lnTo>
                  <a:pt x="7703044" y="0"/>
                </a:lnTo>
                <a:lnTo>
                  <a:pt x="7703044" y="4323333"/>
                </a:lnTo>
                <a:lnTo>
                  <a:pt x="0" y="4323333"/>
                </a:lnTo>
                <a:lnTo>
                  <a:pt x="0" y="0"/>
                </a:lnTo>
                <a:close/>
              </a:path>
            </a:pathLst>
          </a:custGeom>
          <a:blipFill>
            <a:blip r:embed="rId3"/>
            <a:stretch>
              <a:fillRect l="0" t="0" r="0" b="0"/>
            </a:stretch>
          </a:blipFill>
          <a:ln w="47625" cap="rnd">
            <a:gradFill>
              <a:gsLst>
                <a:gs pos="0">
                  <a:srgbClr val="A6A6A6">
                    <a:alpha val="100000"/>
                  </a:srgbClr>
                </a:gs>
                <a:gs pos="100000">
                  <a:srgbClr val="FFFFFF">
                    <a:alpha val="100000"/>
                  </a:srgbClr>
                </a:gs>
              </a:gsLst>
              <a:lin ang="0"/>
            </a:gradFill>
            <a:prstDash val="solid"/>
            <a:round/>
          </a:ln>
        </p:spPr>
      </p:sp>
      <p:grpSp>
        <p:nvGrpSpPr>
          <p:cNvPr name="Group 7" id="7"/>
          <p:cNvGrpSpPr/>
          <p:nvPr/>
        </p:nvGrpSpPr>
        <p:grpSpPr>
          <a:xfrm rot="0">
            <a:off x="820092" y="1703010"/>
            <a:ext cx="6847866" cy="1679829"/>
            <a:chOff x="0" y="0"/>
            <a:chExt cx="9130489" cy="2239772"/>
          </a:xfrm>
        </p:grpSpPr>
        <p:sp>
          <p:nvSpPr>
            <p:cNvPr name="AutoShape 8" id="8"/>
            <p:cNvSpPr/>
            <p:nvPr/>
          </p:nvSpPr>
          <p:spPr>
            <a:xfrm>
              <a:off x="0" y="2214372"/>
              <a:ext cx="9130489" cy="0"/>
            </a:xfrm>
            <a:prstGeom prst="line">
              <a:avLst/>
            </a:prstGeom>
            <a:ln cap="flat" w="50800">
              <a:solidFill>
                <a:srgbClr val="FFFFFF"/>
              </a:solidFill>
              <a:prstDash val="solid"/>
              <a:headEnd type="diamond" len="lg" w="lg"/>
              <a:tailEnd type="diamond" len="lg" w="lg"/>
            </a:ln>
          </p:spPr>
        </p:sp>
        <p:sp>
          <p:nvSpPr>
            <p:cNvPr name="TextBox 9" id="9"/>
            <p:cNvSpPr txBox="true"/>
            <p:nvPr/>
          </p:nvSpPr>
          <p:spPr>
            <a:xfrm rot="0">
              <a:off x="1352014" y="66675"/>
              <a:ext cx="5995219" cy="2122297"/>
            </a:xfrm>
            <a:prstGeom prst="rect">
              <a:avLst/>
            </a:prstGeom>
          </p:spPr>
          <p:txBody>
            <a:bodyPr anchor="t" rtlCol="false" tIns="0" lIns="0" bIns="0" rIns="0">
              <a:spAutoFit/>
            </a:bodyPr>
            <a:lstStyle/>
            <a:p>
              <a:pPr algn="ctr">
                <a:lnSpc>
                  <a:spcPts val="6212"/>
                </a:lnSpc>
              </a:pPr>
              <a:r>
                <a:rPr lang="en-US" sz="5699" b="true">
                  <a:solidFill>
                    <a:srgbClr val="FFFFFF"/>
                  </a:solidFill>
                  <a:latin typeface="Roca One Ultra-Bold"/>
                  <a:ea typeface="Roca One Ultra-Bold"/>
                  <a:cs typeface="Roca One Ultra-Bold"/>
                  <a:sym typeface="Roca One Ultra-Bold"/>
                </a:rPr>
                <a:t>Major Features</a:t>
              </a:r>
            </a:p>
          </p:txBody>
        </p:sp>
      </p:grpSp>
    </p:spTree>
  </p:cSld>
  <p:clrMapOvr>
    <a:masterClrMapping/>
  </p:clrMapOvr>
  <p:transition spd="slow">
    <p:cover dir="lu"/>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2256613" y="4257727"/>
            <a:ext cx="4899512" cy="5000573"/>
            <a:chOff x="0" y="0"/>
            <a:chExt cx="6532682" cy="6667431"/>
          </a:xfrm>
        </p:grpSpPr>
        <p:grpSp>
          <p:nvGrpSpPr>
            <p:cNvPr name="Group 4" id="4"/>
            <p:cNvGrpSpPr/>
            <p:nvPr/>
          </p:nvGrpSpPr>
          <p:grpSpPr>
            <a:xfrm rot="0">
              <a:off x="0" y="0"/>
              <a:ext cx="6532682" cy="4020478"/>
              <a:chOff x="0" y="0"/>
              <a:chExt cx="1555142" cy="957098"/>
            </a:xfrm>
          </p:grpSpPr>
          <p:sp>
            <p:nvSpPr>
              <p:cNvPr name="Freeform 5" id="5"/>
              <p:cNvSpPr/>
              <p:nvPr/>
            </p:nvSpPr>
            <p:spPr>
              <a:xfrm flipH="false" flipV="false" rot="0">
                <a:off x="0" y="0"/>
                <a:ext cx="1555142" cy="957098"/>
              </a:xfrm>
              <a:custGeom>
                <a:avLst/>
                <a:gdLst/>
                <a:ahLst/>
                <a:cxnLst/>
                <a:rect r="r" b="b" t="t" l="l"/>
                <a:pathLst>
                  <a:path h="957098" w="1555142">
                    <a:moveTo>
                      <a:pt x="61626" y="0"/>
                    </a:moveTo>
                    <a:lnTo>
                      <a:pt x="1493517" y="0"/>
                    </a:lnTo>
                    <a:cubicBezTo>
                      <a:pt x="1509861" y="0"/>
                      <a:pt x="1525536" y="6493"/>
                      <a:pt x="1537093" y="18050"/>
                    </a:cubicBezTo>
                    <a:cubicBezTo>
                      <a:pt x="1548650" y="29607"/>
                      <a:pt x="1555142" y="45281"/>
                      <a:pt x="1555142" y="61626"/>
                    </a:cubicBezTo>
                    <a:lnTo>
                      <a:pt x="1555142" y="895472"/>
                    </a:lnTo>
                    <a:cubicBezTo>
                      <a:pt x="1555142" y="929507"/>
                      <a:pt x="1527552" y="957098"/>
                      <a:pt x="1493517" y="957098"/>
                    </a:cubicBezTo>
                    <a:lnTo>
                      <a:pt x="61626" y="957098"/>
                    </a:lnTo>
                    <a:cubicBezTo>
                      <a:pt x="27591" y="957098"/>
                      <a:pt x="0" y="929507"/>
                      <a:pt x="0" y="895472"/>
                    </a:cubicBezTo>
                    <a:lnTo>
                      <a:pt x="0" y="61626"/>
                    </a:lnTo>
                    <a:cubicBezTo>
                      <a:pt x="0" y="45281"/>
                      <a:pt x="6493" y="29607"/>
                      <a:pt x="18050" y="18050"/>
                    </a:cubicBezTo>
                    <a:cubicBezTo>
                      <a:pt x="29607" y="6493"/>
                      <a:pt x="45281" y="0"/>
                      <a:pt x="61626" y="0"/>
                    </a:cubicBezTo>
                    <a:close/>
                  </a:path>
                </a:pathLst>
              </a:custGeom>
              <a:blipFill>
                <a:blip r:embed="rId3"/>
                <a:stretch>
                  <a:fillRect l="-6076" t="0" r="-6076" b="0"/>
                </a:stretch>
              </a:blipFill>
              <a:ln cap="rnd">
                <a:noFill/>
                <a:prstDash val="solid"/>
                <a:round/>
              </a:ln>
            </p:spPr>
          </p:sp>
        </p:grpSp>
        <p:grpSp>
          <p:nvGrpSpPr>
            <p:cNvPr name="Group 6" id="6"/>
            <p:cNvGrpSpPr/>
            <p:nvPr/>
          </p:nvGrpSpPr>
          <p:grpSpPr>
            <a:xfrm rot="0">
              <a:off x="318516" y="3816818"/>
              <a:ext cx="5895650" cy="2850614"/>
              <a:chOff x="0" y="0"/>
              <a:chExt cx="1076227" cy="520368"/>
            </a:xfrm>
          </p:grpSpPr>
          <p:sp>
            <p:nvSpPr>
              <p:cNvPr name="Freeform 7" id="7"/>
              <p:cNvSpPr/>
              <p:nvPr/>
            </p:nvSpPr>
            <p:spPr>
              <a:xfrm flipH="false" flipV="false" rot="0">
                <a:off x="0" y="0"/>
                <a:ext cx="1076227" cy="520368"/>
              </a:xfrm>
              <a:custGeom>
                <a:avLst/>
                <a:gdLst/>
                <a:ahLst/>
                <a:cxnLst/>
                <a:rect r="r" b="b" t="t" l="l"/>
                <a:pathLst>
                  <a:path h="520368" w="1076227">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5400000"/>
                </a:gradFill>
                <a:prstDash val="solid"/>
                <a:miter/>
              </a:ln>
            </p:spPr>
          </p:sp>
          <p:sp>
            <p:nvSpPr>
              <p:cNvPr name="TextBox 8" id="8"/>
              <p:cNvSpPr txBox="true"/>
              <p:nvPr/>
            </p:nvSpPr>
            <p:spPr>
              <a:xfrm>
                <a:off x="0" y="-47625"/>
                <a:ext cx="1076227" cy="567993"/>
              </a:xfrm>
              <a:prstGeom prst="rect">
                <a:avLst/>
              </a:prstGeom>
            </p:spPr>
            <p:txBody>
              <a:bodyPr anchor="ctr" rtlCol="false" tIns="50800" lIns="50800" bIns="50800" rIns="50800"/>
              <a:lstStyle/>
              <a:p>
                <a:pPr algn="ctr">
                  <a:lnSpc>
                    <a:spcPts val="2800"/>
                  </a:lnSpc>
                </a:pPr>
              </a:p>
            </p:txBody>
          </p:sp>
        </p:grpSp>
        <p:sp>
          <p:nvSpPr>
            <p:cNvPr name="TextBox 9" id="9"/>
            <p:cNvSpPr txBox="true"/>
            <p:nvPr/>
          </p:nvSpPr>
          <p:spPr>
            <a:xfrm rot="0">
              <a:off x="578215" y="4028376"/>
              <a:ext cx="5383423" cy="2389397"/>
            </a:xfrm>
            <a:prstGeom prst="rect">
              <a:avLst/>
            </a:prstGeom>
          </p:spPr>
          <p:txBody>
            <a:bodyPr anchor="t" rtlCol="false" tIns="0" lIns="0" bIns="0" rIns="0">
              <a:spAutoFit/>
            </a:bodyPr>
            <a:lstStyle/>
            <a:p>
              <a:pPr algn="just" marL="0" indent="0" lvl="0">
                <a:lnSpc>
                  <a:spcPts val="2025"/>
                </a:lnSpc>
              </a:pPr>
              <a:r>
                <a:rPr lang="en-US" sz="1446" spc="60">
                  <a:solidFill>
                    <a:srgbClr val="FFFFFF"/>
                  </a:solidFill>
                  <a:latin typeface="Roca One"/>
                  <a:ea typeface="Roca One"/>
                  <a:cs typeface="Roca One"/>
                  <a:sym typeface="Roca One"/>
                </a:rPr>
                <a:t>DebAI maintains chat history and extracted content through session management, making the interaction smooth and continuous. The system ensures a seamless workflow even when users switch between OCR tasks and chat responses frequently.</a:t>
              </a:r>
            </a:p>
          </p:txBody>
        </p:sp>
      </p:grpSp>
      <p:grpSp>
        <p:nvGrpSpPr>
          <p:cNvPr name="Group 10" id="10"/>
          <p:cNvGrpSpPr/>
          <p:nvPr/>
        </p:nvGrpSpPr>
        <p:grpSpPr>
          <a:xfrm rot="0">
            <a:off x="6630776" y="4362067"/>
            <a:ext cx="5025762" cy="4896233"/>
            <a:chOff x="0" y="0"/>
            <a:chExt cx="6701016" cy="6528311"/>
          </a:xfrm>
        </p:grpSpPr>
        <p:grpSp>
          <p:nvGrpSpPr>
            <p:cNvPr name="Group 11" id="11"/>
            <p:cNvGrpSpPr/>
            <p:nvPr/>
          </p:nvGrpSpPr>
          <p:grpSpPr>
            <a:xfrm rot="0">
              <a:off x="0" y="0"/>
              <a:ext cx="6701016" cy="3939075"/>
              <a:chOff x="0" y="0"/>
              <a:chExt cx="1739382" cy="1022465"/>
            </a:xfrm>
          </p:grpSpPr>
          <p:sp>
            <p:nvSpPr>
              <p:cNvPr name="Freeform 12" id="12"/>
              <p:cNvSpPr/>
              <p:nvPr/>
            </p:nvSpPr>
            <p:spPr>
              <a:xfrm flipH="false" flipV="false" rot="0">
                <a:off x="0" y="0"/>
                <a:ext cx="1739382" cy="1022465"/>
              </a:xfrm>
              <a:custGeom>
                <a:avLst/>
                <a:gdLst/>
                <a:ahLst/>
                <a:cxnLst/>
                <a:rect r="r" b="b" t="t" l="l"/>
                <a:pathLst>
                  <a:path h="1022465" w="1739382">
                    <a:moveTo>
                      <a:pt x="21566" y="0"/>
                    </a:moveTo>
                    <a:lnTo>
                      <a:pt x="1717816" y="0"/>
                    </a:lnTo>
                    <a:cubicBezTo>
                      <a:pt x="1723536" y="0"/>
                      <a:pt x="1729021" y="2272"/>
                      <a:pt x="1733066" y="6317"/>
                    </a:cubicBezTo>
                    <a:cubicBezTo>
                      <a:pt x="1737110" y="10361"/>
                      <a:pt x="1739382" y="15847"/>
                      <a:pt x="1739382" y="21566"/>
                    </a:cubicBezTo>
                    <a:lnTo>
                      <a:pt x="1739382" y="1000899"/>
                    </a:lnTo>
                    <a:cubicBezTo>
                      <a:pt x="1739382" y="1006619"/>
                      <a:pt x="1737110" y="1012104"/>
                      <a:pt x="1733066" y="1016149"/>
                    </a:cubicBezTo>
                    <a:cubicBezTo>
                      <a:pt x="1729021" y="1020193"/>
                      <a:pt x="1723536" y="1022465"/>
                      <a:pt x="1717816" y="1022465"/>
                    </a:cubicBezTo>
                    <a:lnTo>
                      <a:pt x="21566" y="1022465"/>
                    </a:lnTo>
                    <a:cubicBezTo>
                      <a:pt x="15847" y="1022465"/>
                      <a:pt x="10361" y="1020193"/>
                      <a:pt x="6317" y="1016149"/>
                    </a:cubicBezTo>
                    <a:cubicBezTo>
                      <a:pt x="2272" y="1012104"/>
                      <a:pt x="0" y="1006619"/>
                      <a:pt x="0" y="1000899"/>
                    </a:cubicBezTo>
                    <a:lnTo>
                      <a:pt x="0" y="21566"/>
                    </a:lnTo>
                    <a:cubicBezTo>
                      <a:pt x="0" y="15847"/>
                      <a:pt x="2272" y="10361"/>
                      <a:pt x="6317" y="6317"/>
                    </a:cubicBezTo>
                    <a:cubicBezTo>
                      <a:pt x="10361" y="2272"/>
                      <a:pt x="15847" y="0"/>
                      <a:pt x="21566" y="0"/>
                    </a:cubicBezTo>
                    <a:close/>
                  </a:path>
                </a:pathLst>
              </a:custGeom>
              <a:blipFill>
                <a:blip r:embed="rId4"/>
                <a:stretch>
                  <a:fillRect l="-4682" t="0" r="-4682" b="0"/>
                </a:stretch>
              </a:blipFill>
              <a:ln cap="sq">
                <a:noFill/>
                <a:prstDash val="solid"/>
                <a:miter/>
              </a:ln>
            </p:spPr>
          </p:sp>
        </p:grpSp>
        <p:grpSp>
          <p:nvGrpSpPr>
            <p:cNvPr name="Group 13" id="13"/>
            <p:cNvGrpSpPr/>
            <p:nvPr/>
          </p:nvGrpSpPr>
          <p:grpSpPr>
            <a:xfrm rot="0">
              <a:off x="462368" y="3735414"/>
              <a:ext cx="5776280" cy="2792897"/>
              <a:chOff x="0" y="0"/>
              <a:chExt cx="1076227" cy="520368"/>
            </a:xfrm>
          </p:grpSpPr>
          <p:sp>
            <p:nvSpPr>
              <p:cNvPr name="Freeform 14" id="14"/>
              <p:cNvSpPr/>
              <p:nvPr/>
            </p:nvSpPr>
            <p:spPr>
              <a:xfrm flipH="false" flipV="false" rot="0">
                <a:off x="0" y="0"/>
                <a:ext cx="1076227" cy="520368"/>
              </a:xfrm>
              <a:custGeom>
                <a:avLst/>
                <a:gdLst/>
                <a:ahLst/>
                <a:cxnLst/>
                <a:rect r="r" b="b" t="t" l="l"/>
                <a:pathLst>
                  <a:path h="520368" w="1076227">
                    <a:moveTo>
                      <a:pt x="25019" y="0"/>
                    </a:moveTo>
                    <a:lnTo>
                      <a:pt x="1051208" y="0"/>
                    </a:lnTo>
                    <a:cubicBezTo>
                      <a:pt x="1057843" y="0"/>
                      <a:pt x="1064207" y="2636"/>
                      <a:pt x="1068899" y="7328"/>
                    </a:cubicBezTo>
                    <a:cubicBezTo>
                      <a:pt x="1073591" y="12020"/>
                      <a:pt x="1076227" y="18383"/>
                      <a:pt x="1076227" y="25019"/>
                    </a:cubicBezTo>
                    <a:lnTo>
                      <a:pt x="1076227" y="495349"/>
                    </a:lnTo>
                    <a:cubicBezTo>
                      <a:pt x="1076227" y="501985"/>
                      <a:pt x="1073591" y="508348"/>
                      <a:pt x="1068899" y="513040"/>
                    </a:cubicBezTo>
                    <a:cubicBezTo>
                      <a:pt x="1064207" y="517732"/>
                      <a:pt x="1057843" y="520368"/>
                      <a:pt x="1051208" y="520368"/>
                    </a:cubicBezTo>
                    <a:lnTo>
                      <a:pt x="25019" y="520368"/>
                    </a:lnTo>
                    <a:cubicBezTo>
                      <a:pt x="18383" y="520368"/>
                      <a:pt x="12020" y="517732"/>
                      <a:pt x="7328" y="513040"/>
                    </a:cubicBezTo>
                    <a:cubicBezTo>
                      <a:pt x="2636" y="508348"/>
                      <a:pt x="0" y="501985"/>
                      <a:pt x="0" y="495349"/>
                    </a:cubicBezTo>
                    <a:lnTo>
                      <a:pt x="0" y="25019"/>
                    </a:lnTo>
                    <a:cubicBezTo>
                      <a:pt x="0" y="18383"/>
                      <a:pt x="2636" y="12020"/>
                      <a:pt x="7328" y="7328"/>
                    </a:cubicBezTo>
                    <a:cubicBezTo>
                      <a:pt x="12020" y="2636"/>
                      <a:pt x="18383" y="0"/>
                      <a:pt x="25019"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5400000"/>
                </a:gradFill>
                <a:prstDash val="solid"/>
                <a:miter/>
              </a:ln>
            </p:spPr>
          </p:sp>
          <p:sp>
            <p:nvSpPr>
              <p:cNvPr name="TextBox 15" id="15"/>
              <p:cNvSpPr txBox="true"/>
              <p:nvPr/>
            </p:nvSpPr>
            <p:spPr>
              <a:xfrm>
                <a:off x="0" y="-47625"/>
                <a:ext cx="1076227" cy="567993"/>
              </a:xfrm>
              <a:prstGeom prst="rect">
                <a:avLst/>
              </a:prstGeom>
            </p:spPr>
            <p:txBody>
              <a:bodyPr anchor="ctr" rtlCol="false" tIns="49771" lIns="49771" bIns="49771" rIns="49771"/>
              <a:lstStyle/>
              <a:p>
                <a:pPr algn="ctr">
                  <a:lnSpc>
                    <a:spcPts val="2800"/>
                  </a:lnSpc>
                </a:pPr>
              </a:p>
            </p:txBody>
          </p:sp>
        </p:grpSp>
        <p:sp>
          <p:nvSpPr>
            <p:cNvPr name="TextBox 16" id="16"/>
            <p:cNvSpPr txBox="true"/>
            <p:nvPr/>
          </p:nvSpPr>
          <p:spPr>
            <a:xfrm rot="0">
              <a:off x="713296" y="3931019"/>
              <a:ext cx="5274424" cy="2322739"/>
            </a:xfrm>
            <a:prstGeom prst="rect">
              <a:avLst/>
            </a:prstGeom>
          </p:spPr>
          <p:txBody>
            <a:bodyPr anchor="t" rtlCol="false" tIns="0" lIns="0" bIns="0" rIns="0">
              <a:spAutoFit/>
            </a:bodyPr>
            <a:lstStyle/>
            <a:p>
              <a:pPr algn="just" marL="0" indent="0" lvl="0">
                <a:lnSpc>
                  <a:spcPts val="1984"/>
                </a:lnSpc>
              </a:pPr>
              <a:r>
                <a:rPr lang="en-US" sz="1417" spc="59">
                  <a:solidFill>
                    <a:srgbClr val="FFFFFF"/>
                  </a:solidFill>
                  <a:latin typeface="Roca One"/>
                  <a:ea typeface="Roca One"/>
                  <a:cs typeface="Roca One"/>
                  <a:sym typeface="Roca One"/>
                </a:rPr>
                <a:t>Once the text is extracted, DebAI forwards it into the chat context, where a local AI model intelligently processes the information. It generates real-time responses, enabling meaningful and interactive conversations based on the uploaded content.</a:t>
              </a:r>
            </a:p>
          </p:txBody>
        </p:sp>
      </p:grpSp>
      <p:grpSp>
        <p:nvGrpSpPr>
          <p:cNvPr name="Group 17" id="17"/>
          <p:cNvGrpSpPr/>
          <p:nvPr/>
        </p:nvGrpSpPr>
        <p:grpSpPr>
          <a:xfrm rot="0">
            <a:off x="1117483" y="4257727"/>
            <a:ext cx="4913561" cy="5000573"/>
            <a:chOff x="0" y="0"/>
            <a:chExt cx="6551414" cy="6667431"/>
          </a:xfrm>
        </p:grpSpPr>
        <p:grpSp>
          <p:nvGrpSpPr>
            <p:cNvPr name="Group 18" id="18"/>
            <p:cNvGrpSpPr/>
            <p:nvPr/>
          </p:nvGrpSpPr>
          <p:grpSpPr>
            <a:xfrm rot="0">
              <a:off x="0" y="0"/>
              <a:ext cx="6551414" cy="4020478"/>
              <a:chOff x="0" y="0"/>
              <a:chExt cx="3365590" cy="2065398"/>
            </a:xfrm>
          </p:grpSpPr>
          <p:sp>
            <p:nvSpPr>
              <p:cNvPr name="Freeform 19" id="19"/>
              <p:cNvSpPr/>
              <p:nvPr/>
            </p:nvSpPr>
            <p:spPr>
              <a:xfrm flipH="false" flipV="false" rot="0">
                <a:off x="0" y="0"/>
                <a:ext cx="3365590" cy="2065399"/>
              </a:xfrm>
              <a:custGeom>
                <a:avLst/>
                <a:gdLst/>
                <a:ahLst/>
                <a:cxnLst/>
                <a:rect r="r" b="b" t="t" l="l"/>
                <a:pathLst>
                  <a:path h="2065399" w="3365590">
                    <a:moveTo>
                      <a:pt x="34664" y="0"/>
                    </a:moveTo>
                    <a:lnTo>
                      <a:pt x="3330927" y="0"/>
                    </a:lnTo>
                    <a:cubicBezTo>
                      <a:pt x="3340120" y="0"/>
                      <a:pt x="3348937" y="3652"/>
                      <a:pt x="3355437" y="10153"/>
                    </a:cubicBezTo>
                    <a:cubicBezTo>
                      <a:pt x="3361938" y="16653"/>
                      <a:pt x="3365590" y="25470"/>
                      <a:pt x="3365590" y="34664"/>
                    </a:cubicBezTo>
                    <a:lnTo>
                      <a:pt x="3365590" y="2030735"/>
                    </a:lnTo>
                    <a:cubicBezTo>
                      <a:pt x="3365590" y="2049879"/>
                      <a:pt x="3350071" y="2065399"/>
                      <a:pt x="3330927" y="2065399"/>
                    </a:cubicBezTo>
                    <a:lnTo>
                      <a:pt x="34664" y="2065399"/>
                    </a:lnTo>
                    <a:cubicBezTo>
                      <a:pt x="15519" y="2065399"/>
                      <a:pt x="0" y="2049879"/>
                      <a:pt x="0" y="2030735"/>
                    </a:cubicBezTo>
                    <a:lnTo>
                      <a:pt x="0" y="34664"/>
                    </a:lnTo>
                    <a:cubicBezTo>
                      <a:pt x="0" y="15519"/>
                      <a:pt x="15519" y="0"/>
                      <a:pt x="34664" y="0"/>
                    </a:cubicBezTo>
                    <a:close/>
                  </a:path>
                </a:pathLst>
              </a:custGeom>
              <a:blipFill>
                <a:blip r:embed="rId5"/>
                <a:stretch>
                  <a:fillRect l="-6560" t="0" r="-6560" b="0"/>
                </a:stretch>
              </a:blipFill>
              <a:ln cap="rnd">
                <a:noFill/>
                <a:prstDash val="solid"/>
                <a:round/>
              </a:ln>
            </p:spPr>
          </p:sp>
        </p:grpSp>
        <p:grpSp>
          <p:nvGrpSpPr>
            <p:cNvPr name="Group 20" id="20"/>
            <p:cNvGrpSpPr/>
            <p:nvPr/>
          </p:nvGrpSpPr>
          <p:grpSpPr>
            <a:xfrm rot="0">
              <a:off x="252075" y="3816818"/>
              <a:ext cx="5895650" cy="2850614"/>
              <a:chOff x="0" y="0"/>
              <a:chExt cx="1076227" cy="520368"/>
            </a:xfrm>
          </p:grpSpPr>
          <p:sp>
            <p:nvSpPr>
              <p:cNvPr name="Freeform 21" id="21"/>
              <p:cNvSpPr/>
              <p:nvPr/>
            </p:nvSpPr>
            <p:spPr>
              <a:xfrm flipH="false" flipV="false" rot="0">
                <a:off x="0" y="0"/>
                <a:ext cx="1076227" cy="520368"/>
              </a:xfrm>
              <a:custGeom>
                <a:avLst/>
                <a:gdLst/>
                <a:ahLst/>
                <a:cxnLst/>
                <a:rect r="r" b="b" t="t" l="l"/>
                <a:pathLst>
                  <a:path h="520368" w="1076227">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5400000"/>
                </a:gradFill>
                <a:prstDash val="solid"/>
                <a:miter/>
              </a:ln>
            </p:spPr>
          </p:sp>
          <p:sp>
            <p:nvSpPr>
              <p:cNvPr name="TextBox 22" id="22"/>
              <p:cNvSpPr txBox="true"/>
              <p:nvPr/>
            </p:nvSpPr>
            <p:spPr>
              <a:xfrm>
                <a:off x="0" y="-47625"/>
                <a:ext cx="1076227" cy="567993"/>
              </a:xfrm>
              <a:prstGeom prst="rect">
                <a:avLst/>
              </a:prstGeom>
            </p:spPr>
            <p:txBody>
              <a:bodyPr anchor="ctr" rtlCol="false" tIns="50800" lIns="50800" bIns="50800" rIns="50800"/>
              <a:lstStyle/>
              <a:p>
                <a:pPr algn="ctr">
                  <a:lnSpc>
                    <a:spcPts val="2800"/>
                  </a:lnSpc>
                </a:pPr>
              </a:p>
            </p:txBody>
          </p:sp>
        </p:grpSp>
        <p:sp>
          <p:nvSpPr>
            <p:cNvPr name="TextBox 23" id="23"/>
            <p:cNvSpPr txBox="true"/>
            <p:nvPr/>
          </p:nvSpPr>
          <p:spPr>
            <a:xfrm rot="0">
              <a:off x="508188" y="4172944"/>
              <a:ext cx="5383423" cy="2109785"/>
            </a:xfrm>
            <a:prstGeom prst="rect">
              <a:avLst/>
            </a:prstGeom>
          </p:spPr>
          <p:txBody>
            <a:bodyPr anchor="t" rtlCol="false" tIns="0" lIns="0" bIns="0" rIns="0">
              <a:spAutoFit/>
            </a:bodyPr>
            <a:lstStyle/>
            <a:p>
              <a:pPr algn="just" marL="0" indent="0" lvl="0">
                <a:lnSpc>
                  <a:spcPts val="2165"/>
                </a:lnSpc>
              </a:pPr>
              <a:r>
                <a:rPr lang="en-US" sz="1546" spc="64">
                  <a:solidFill>
                    <a:srgbClr val="FFFFFF"/>
                  </a:solidFill>
                  <a:latin typeface="Roca One"/>
                  <a:ea typeface="Roca One"/>
                  <a:cs typeface="Roca One"/>
                  <a:sym typeface="Roca One"/>
                </a:rPr>
                <a:t>DebAI starts by allowing users to upload images or PDF files. It then extracts readable text using advanced OCR technology, ensuring that even text locked inside scanned documents becomes accessible and usable.</a:t>
              </a:r>
            </a:p>
          </p:txBody>
        </p:sp>
      </p:grpSp>
      <p:grpSp>
        <p:nvGrpSpPr>
          <p:cNvPr name="Group 24" id="24"/>
          <p:cNvGrpSpPr/>
          <p:nvPr/>
        </p:nvGrpSpPr>
        <p:grpSpPr>
          <a:xfrm rot="0">
            <a:off x="4375522" y="1372711"/>
            <a:ext cx="9536271" cy="1222728"/>
            <a:chOff x="0" y="0"/>
            <a:chExt cx="12715027" cy="1630304"/>
          </a:xfrm>
        </p:grpSpPr>
        <p:sp>
          <p:nvSpPr>
            <p:cNvPr name="TextBox 25" id="25"/>
            <p:cNvSpPr txBox="true"/>
            <p:nvPr/>
          </p:nvSpPr>
          <p:spPr>
            <a:xfrm rot="0">
              <a:off x="0" y="-57150"/>
              <a:ext cx="12715027" cy="1217031"/>
            </a:xfrm>
            <a:prstGeom prst="rect">
              <a:avLst/>
            </a:prstGeom>
          </p:spPr>
          <p:txBody>
            <a:bodyPr anchor="t" rtlCol="false" tIns="0" lIns="0" bIns="0" rIns="0">
              <a:spAutoFit/>
            </a:bodyPr>
            <a:lstStyle/>
            <a:p>
              <a:pPr algn="ctr">
                <a:lnSpc>
                  <a:spcPts val="7478"/>
                </a:lnSpc>
              </a:pPr>
              <a:r>
                <a:rPr lang="en-US" sz="5753" b="true">
                  <a:solidFill>
                    <a:srgbClr val="FFFFFF"/>
                  </a:solidFill>
                  <a:latin typeface="Roca One Heavy"/>
                  <a:ea typeface="Roca One Heavy"/>
                  <a:cs typeface="Roca One Heavy"/>
                  <a:sym typeface="Roca One Heavy"/>
                </a:rPr>
                <a:t>System Architecture</a:t>
              </a:r>
            </a:p>
          </p:txBody>
        </p:sp>
        <p:sp>
          <p:nvSpPr>
            <p:cNvPr name="AutoShape 26" id="26"/>
            <p:cNvSpPr/>
            <p:nvPr/>
          </p:nvSpPr>
          <p:spPr>
            <a:xfrm>
              <a:off x="1377633" y="1604904"/>
              <a:ext cx="10350187" cy="0"/>
            </a:xfrm>
            <a:prstGeom prst="line">
              <a:avLst/>
            </a:prstGeom>
            <a:ln cap="flat" w="50800">
              <a:solidFill>
                <a:srgbClr val="FFFFFF"/>
              </a:solidFill>
              <a:prstDash val="solid"/>
              <a:headEnd type="diamond" len="lg" w="lg"/>
              <a:tailEnd type="diamond" len="lg" w="lg"/>
            </a:ln>
          </p:spPr>
        </p:sp>
      </p:grpSp>
    </p:spTree>
  </p:cSld>
  <p:clrMapOvr>
    <a:masterClrMapping/>
  </p:clrMapOvr>
  <p:transition spd="slow">
    <p:cover dir="lu"/>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518" r="0" b="0"/>
            </a:stretch>
          </a:blipFill>
        </p:spPr>
      </p:sp>
      <p:grpSp>
        <p:nvGrpSpPr>
          <p:cNvPr name="Group 3" id="3"/>
          <p:cNvGrpSpPr/>
          <p:nvPr/>
        </p:nvGrpSpPr>
        <p:grpSpPr>
          <a:xfrm rot="0">
            <a:off x="301173" y="2277068"/>
            <a:ext cx="7442759" cy="6783549"/>
            <a:chOff x="0" y="0"/>
            <a:chExt cx="9923679" cy="9044732"/>
          </a:xfrm>
        </p:grpSpPr>
        <p:grpSp>
          <p:nvGrpSpPr>
            <p:cNvPr name="Group 4" id="4"/>
            <p:cNvGrpSpPr/>
            <p:nvPr/>
          </p:nvGrpSpPr>
          <p:grpSpPr>
            <a:xfrm rot="0">
              <a:off x="0" y="540618"/>
              <a:ext cx="600023" cy="730012"/>
              <a:chOff x="0" y="0"/>
              <a:chExt cx="668069" cy="812800"/>
            </a:xfrm>
          </p:grpSpPr>
          <p:sp>
            <p:nvSpPr>
              <p:cNvPr name="Freeform 5" id="5"/>
              <p:cNvSpPr/>
              <p:nvPr/>
            </p:nvSpPr>
            <p:spPr>
              <a:xfrm flipH="false" flipV="false" rot="0">
                <a:off x="0" y="0"/>
                <a:ext cx="668069" cy="812800"/>
              </a:xfrm>
              <a:custGeom>
                <a:avLst/>
                <a:gdLst/>
                <a:ahLst/>
                <a:cxnLst/>
                <a:rect r="r" b="b" t="t" l="l"/>
                <a:pathLst>
                  <a:path h="812800" w="668069">
                    <a:moveTo>
                      <a:pt x="334035" y="0"/>
                    </a:moveTo>
                    <a:cubicBezTo>
                      <a:pt x="149552" y="0"/>
                      <a:pt x="0" y="181951"/>
                      <a:pt x="0" y="406400"/>
                    </a:cubicBezTo>
                    <a:cubicBezTo>
                      <a:pt x="0" y="630849"/>
                      <a:pt x="149552" y="812800"/>
                      <a:pt x="334035" y="812800"/>
                    </a:cubicBezTo>
                    <a:cubicBezTo>
                      <a:pt x="518517" y="812800"/>
                      <a:pt x="668069" y="630849"/>
                      <a:pt x="668069" y="406400"/>
                    </a:cubicBezTo>
                    <a:cubicBezTo>
                      <a:pt x="668069" y="181951"/>
                      <a:pt x="518517" y="0"/>
                      <a:pt x="334035" y="0"/>
                    </a:cubicBezTo>
                    <a:close/>
                  </a:path>
                </a:pathLst>
              </a:custGeom>
              <a:gradFill rotWithShape="true">
                <a:gsLst>
                  <a:gs pos="0">
                    <a:srgbClr val="10A5FF">
                      <a:alpha val="100000"/>
                    </a:srgbClr>
                  </a:gs>
                  <a:gs pos="100000">
                    <a:srgbClr val="041E4E">
                      <a:alpha val="100000"/>
                    </a:srgbClr>
                  </a:gs>
                </a:gsLst>
                <a:lin ang="5400000"/>
              </a:gradFill>
            </p:spPr>
          </p:sp>
          <p:sp>
            <p:nvSpPr>
              <p:cNvPr name="TextBox 6" id="6"/>
              <p:cNvSpPr txBox="true"/>
              <p:nvPr/>
            </p:nvSpPr>
            <p:spPr>
              <a:xfrm>
                <a:off x="62631" y="47625"/>
                <a:ext cx="542806" cy="688975"/>
              </a:xfrm>
              <a:prstGeom prst="rect">
                <a:avLst/>
              </a:prstGeom>
            </p:spPr>
            <p:txBody>
              <a:bodyPr anchor="ctr" rtlCol="false" tIns="0" lIns="0" bIns="0" rIns="0"/>
              <a:lstStyle/>
              <a:p>
                <a:pPr algn="ctr" marL="0" indent="0" lvl="0">
                  <a:lnSpc>
                    <a:spcPts val="2600"/>
                  </a:lnSpc>
                  <a:spcBef>
                    <a:spcPct val="0"/>
                  </a:spcBef>
                </a:pPr>
                <a:r>
                  <a:rPr lang="en-US" sz="2000" spc="84">
                    <a:solidFill>
                      <a:srgbClr val="FFFFFF"/>
                    </a:solidFill>
                    <a:latin typeface="Roca One"/>
                    <a:ea typeface="Roca One"/>
                    <a:cs typeface="Roca One"/>
                    <a:sym typeface="Roca One"/>
                  </a:rPr>
                  <a:t>01</a:t>
                </a:r>
              </a:p>
            </p:txBody>
          </p:sp>
        </p:grpSp>
        <p:grpSp>
          <p:nvGrpSpPr>
            <p:cNvPr name="Group 7" id="7"/>
            <p:cNvGrpSpPr/>
            <p:nvPr/>
          </p:nvGrpSpPr>
          <p:grpSpPr>
            <a:xfrm rot="0">
              <a:off x="0" y="2980892"/>
              <a:ext cx="600023" cy="730012"/>
              <a:chOff x="0" y="0"/>
              <a:chExt cx="668069" cy="812800"/>
            </a:xfrm>
          </p:grpSpPr>
          <p:sp>
            <p:nvSpPr>
              <p:cNvPr name="Freeform 8" id="8"/>
              <p:cNvSpPr/>
              <p:nvPr/>
            </p:nvSpPr>
            <p:spPr>
              <a:xfrm flipH="false" flipV="false" rot="0">
                <a:off x="0" y="0"/>
                <a:ext cx="668069" cy="812800"/>
              </a:xfrm>
              <a:custGeom>
                <a:avLst/>
                <a:gdLst/>
                <a:ahLst/>
                <a:cxnLst/>
                <a:rect r="r" b="b" t="t" l="l"/>
                <a:pathLst>
                  <a:path h="812800" w="668069">
                    <a:moveTo>
                      <a:pt x="334035" y="0"/>
                    </a:moveTo>
                    <a:cubicBezTo>
                      <a:pt x="149552" y="0"/>
                      <a:pt x="0" y="181951"/>
                      <a:pt x="0" y="406400"/>
                    </a:cubicBezTo>
                    <a:cubicBezTo>
                      <a:pt x="0" y="630849"/>
                      <a:pt x="149552" y="812800"/>
                      <a:pt x="334035" y="812800"/>
                    </a:cubicBezTo>
                    <a:cubicBezTo>
                      <a:pt x="518517" y="812800"/>
                      <a:pt x="668069" y="630849"/>
                      <a:pt x="668069" y="406400"/>
                    </a:cubicBezTo>
                    <a:cubicBezTo>
                      <a:pt x="668069" y="181951"/>
                      <a:pt x="518517" y="0"/>
                      <a:pt x="334035" y="0"/>
                    </a:cubicBezTo>
                    <a:close/>
                  </a:path>
                </a:pathLst>
              </a:custGeom>
              <a:gradFill rotWithShape="true">
                <a:gsLst>
                  <a:gs pos="0">
                    <a:srgbClr val="10A5FF">
                      <a:alpha val="100000"/>
                    </a:srgbClr>
                  </a:gs>
                  <a:gs pos="100000">
                    <a:srgbClr val="041E4E">
                      <a:alpha val="100000"/>
                    </a:srgbClr>
                  </a:gs>
                </a:gsLst>
                <a:lin ang="5400000"/>
              </a:gradFill>
            </p:spPr>
          </p:sp>
          <p:sp>
            <p:nvSpPr>
              <p:cNvPr name="TextBox 9" id="9"/>
              <p:cNvSpPr txBox="true"/>
              <p:nvPr/>
            </p:nvSpPr>
            <p:spPr>
              <a:xfrm>
                <a:off x="62631" y="47625"/>
                <a:ext cx="542806" cy="688975"/>
              </a:xfrm>
              <a:prstGeom prst="rect">
                <a:avLst/>
              </a:prstGeom>
            </p:spPr>
            <p:txBody>
              <a:bodyPr anchor="ctr" rtlCol="false" tIns="0" lIns="0" bIns="0" rIns="0"/>
              <a:lstStyle/>
              <a:p>
                <a:pPr algn="ctr" marL="0" indent="0" lvl="0">
                  <a:lnSpc>
                    <a:spcPts val="2600"/>
                  </a:lnSpc>
                  <a:spcBef>
                    <a:spcPct val="0"/>
                  </a:spcBef>
                </a:pPr>
                <a:r>
                  <a:rPr lang="en-US" sz="2000" spc="84">
                    <a:solidFill>
                      <a:srgbClr val="FFFFFF"/>
                    </a:solidFill>
                    <a:latin typeface="Roca One"/>
                    <a:ea typeface="Roca One"/>
                    <a:cs typeface="Roca One"/>
                    <a:sym typeface="Roca One"/>
                  </a:rPr>
                  <a:t>02</a:t>
                </a:r>
              </a:p>
            </p:txBody>
          </p:sp>
        </p:grpSp>
        <p:grpSp>
          <p:nvGrpSpPr>
            <p:cNvPr name="Group 10" id="10"/>
            <p:cNvGrpSpPr/>
            <p:nvPr/>
          </p:nvGrpSpPr>
          <p:grpSpPr>
            <a:xfrm rot="0">
              <a:off x="0" y="5661637"/>
              <a:ext cx="600023" cy="730012"/>
              <a:chOff x="0" y="0"/>
              <a:chExt cx="668069" cy="812800"/>
            </a:xfrm>
          </p:grpSpPr>
          <p:sp>
            <p:nvSpPr>
              <p:cNvPr name="Freeform 11" id="11"/>
              <p:cNvSpPr/>
              <p:nvPr/>
            </p:nvSpPr>
            <p:spPr>
              <a:xfrm flipH="false" flipV="false" rot="0">
                <a:off x="0" y="0"/>
                <a:ext cx="668069" cy="812800"/>
              </a:xfrm>
              <a:custGeom>
                <a:avLst/>
                <a:gdLst/>
                <a:ahLst/>
                <a:cxnLst/>
                <a:rect r="r" b="b" t="t" l="l"/>
                <a:pathLst>
                  <a:path h="812800" w="668069">
                    <a:moveTo>
                      <a:pt x="334035" y="0"/>
                    </a:moveTo>
                    <a:cubicBezTo>
                      <a:pt x="149552" y="0"/>
                      <a:pt x="0" y="181951"/>
                      <a:pt x="0" y="406400"/>
                    </a:cubicBezTo>
                    <a:cubicBezTo>
                      <a:pt x="0" y="630849"/>
                      <a:pt x="149552" y="812800"/>
                      <a:pt x="334035" y="812800"/>
                    </a:cubicBezTo>
                    <a:cubicBezTo>
                      <a:pt x="518517" y="812800"/>
                      <a:pt x="668069" y="630849"/>
                      <a:pt x="668069" y="406400"/>
                    </a:cubicBezTo>
                    <a:cubicBezTo>
                      <a:pt x="668069" y="181951"/>
                      <a:pt x="518517" y="0"/>
                      <a:pt x="334035" y="0"/>
                    </a:cubicBezTo>
                    <a:close/>
                  </a:path>
                </a:pathLst>
              </a:custGeom>
              <a:gradFill rotWithShape="true">
                <a:gsLst>
                  <a:gs pos="0">
                    <a:srgbClr val="10A5FF">
                      <a:alpha val="100000"/>
                    </a:srgbClr>
                  </a:gs>
                  <a:gs pos="100000">
                    <a:srgbClr val="041E4E">
                      <a:alpha val="100000"/>
                    </a:srgbClr>
                  </a:gs>
                </a:gsLst>
                <a:lin ang="5400000"/>
              </a:gradFill>
            </p:spPr>
          </p:sp>
          <p:sp>
            <p:nvSpPr>
              <p:cNvPr name="TextBox 12" id="12"/>
              <p:cNvSpPr txBox="true"/>
              <p:nvPr/>
            </p:nvSpPr>
            <p:spPr>
              <a:xfrm>
                <a:off x="62631" y="47625"/>
                <a:ext cx="542806" cy="688975"/>
              </a:xfrm>
              <a:prstGeom prst="rect">
                <a:avLst/>
              </a:prstGeom>
            </p:spPr>
            <p:txBody>
              <a:bodyPr anchor="ctr" rtlCol="false" tIns="0" lIns="0" bIns="0" rIns="0"/>
              <a:lstStyle/>
              <a:p>
                <a:pPr algn="ctr" marL="0" indent="0" lvl="0">
                  <a:lnSpc>
                    <a:spcPts val="2600"/>
                  </a:lnSpc>
                  <a:spcBef>
                    <a:spcPct val="0"/>
                  </a:spcBef>
                </a:pPr>
                <a:r>
                  <a:rPr lang="en-US" sz="2000" spc="84">
                    <a:solidFill>
                      <a:srgbClr val="FFFFFF"/>
                    </a:solidFill>
                    <a:latin typeface="Roca One"/>
                    <a:ea typeface="Roca One"/>
                    <a:cs typeface="Roca One"/>
                    <a:sym typeface="Roca One"/>
                  </a:rPr>
                  <a:t>03</a:t>
                </a:r>
              </a:p>
            </p:txBody>
          </p:sp>
        </p:grpSp>
        <p:grpSp>
          <p:nvGrpSpPr>
            <p:cNvPr name="Group 13" id="13"/>
            <p:cNvGrpSpPr/>
            <p:nvPr/>
          </p:nvGrpSpPr>
          <p:grpSpPr>
            <a:xfrm rot="0">
              <a:off x="0" y="7816297"/>
              <a:ext cx="600023" cy="730012"/>
              <a:chOff x="0" y="0"/>
              <a:chExt cx="668069" cy="812800"/>
            </a:xfrm>
          </p:grpSpPr>
          <p:sp>
            <p:nvSpPr>
              <p:cNvPr name="Freeform 14" id="14"/>
              <p:cNvSpPr/>
              <p:nvPr/>
            </p:nvSpPr>
            <p:spPr>
              <a:xfrm flipH="false" flipV="false" rot="0">
                <a:off x="0" y="0"/>
                <a:ext cx="668069" cy="812800"/>
              </a:xfrm>
              <a:custGeom>
                <a:avLst/>
                <a:gdLst/>
                <a:ahLst/>
                <a:cxnLst/>
                <a:rect r="r" b="b" t="t" l="l"/>
                <a:pathLst>
                  <a:path h="812800" w="668069">
                    <a:moveTo>
                      <a:pt x="334035" y="0"/>
                    </a:moveTo>
                    <a:cubicBezTo>
                      <a:pt x="149552" y="0"/>
                      <a:pt x="0" y="181951"/>
                      <a:pt x="0" y="406400"/>
                    </a:cubicBezTo>
                    <a:cubicBezTo>
                      <a:pt x="0" y="630849"/>
                      <a:pt x="149552" y="812800"/>
                      <a:pt x="334035" y="812800"/>
                    </a:cubicBezTo>
                    <a:cubicBezTo>
                      <a:pt x="518517" y="812800"/>
                      <a:pt x="668069" y="630849"/>
                      <a:pt x="668069" y="406400"/>
                    </a:cubicBezTo>
                    <a:cubicBezTo>
                      <a:pt x="668069" y="181951"/>
                      <a:pt x="518517" y="0"/>
                      <a:pt x="334035" y="0"/>
                    </a:cubicBezTo>
                    <a:close/>
                  </a:path>
                </a:pathLst>
              </a:custGeom>
              <a:gradFill rotWithShape="true">
                <a:gsLst>
                  <a:gs pos="0">
                    <a:srgbClr val="10A5FF">
                      <a:alpha val="100000"/>
                    </a:srgbClr>
                  </a:gs>
                  <a:gs pos="100000">
                    <a:srgbClr val="041E4E">
                      <a:alpha val="100000"/>
                    </a:srgbClr>
                  </a:gs>
                </a:gsLst>
                <a:lin ang="5400000"/>
              </a:gradFill>
            </p:spPr>
          </p:sp>
          <p:sp>
            <p:nvSpPr>
              <p:cNvPr name="TextBox 15" id="15"/>
              <p:cNvSpPr txBox="true"/>
              <p:nvPr/>
            </p:nvSpPr>
            <p:spPr>
              <a:xfrm>
                <a:off x="62631" y="47625"/>
                <a:ext cx="542806" cy="688975"/>
              </a:xfrm>
              <a:prstGeom prst="rect">
                <a:avLst/>
              </a:prstGeom>
            </p:spPr>
            <p:txBody>
              <a:bodyPr anchor="ctr" rtlCol="false" tIns="0" lIns="0" bIns="0" rIns="0"/>
              <a:lstStyle/>
              <a:p>
                <a:pPr algn="ctr" marL="0" indent="0" lvl="0">
                  <a:lnSpc>
                    <a:spcPts val="2600"/>
                  </a:lnSpc>
                  <a:spcBef>
                    <a:spcPct val="0"/>
                  </a:spcBef>
                </a:pPr>
                <a:r>
                  <a:rPr lang="en-US" sz="2000" spc="84">
                    <a:solidFill>
                      <a:srgbClr val="FFFFFF"/>
                    </a:solidFill>
                    <a:latin typeface="Roca One"/>
                    <a:ea typeface="Roca One"/>
                    <a:cs typeface="Roca One"/>
                    <a:sym typeface="Roca One"/>
                  </a:rPr>
                  <a:t>04</a:t>
                </a:r>
              </a:p>
            </p:txBody>
          </p:sp>
        </p:grpSp>
        <p:sp>
          <p:nvSpPr>
            <p:cNvPr name="TextBox 16" id="16"/>
            <p:cNvSpPr txBox="true"/>
            <p:nvPr/>
          </p:nvSpPr>
          <p:spPr>
            <a:xfrm rot="0">
              <a:off x="969223" y="-38100"/>
              <a:ext cx="8954457" cy="1745873"/>
            </a:xfrm>
            <a:prstGeom prst="rect">
              <a:avLst/>
            </a:prstGeom>
          </p:spPr>
          <p:txBody>
            <a:bodyPr anchor="t" rtlCol="false" tIns="0" lIns="0" bIns="0" rIns="0">
              <a:spAutoFit/>
            </a:bodyPr>
            <a:lstStyle/>
            <a:p>
              <a:pPr algn="l">
                <a:lnSpc>
                  <a:spcPts val="2974"/>
                </a:lnSpc>
              </a:pPr>
              <a:r>
                <a:rPr lang="en-US" sz="2124" spc="89">
                  <a:solidFill>
                    <a:srgbClr val="FFFFFF"/>
                  </a:solidFill>
                  <a:latin typeface="Roca One"/>
                  <a:ea typeface="Roca One"/>
                  <a:cs typeface="Roca One"/>
                  <a:sym typeface="Roca One"/>
                </a:rPr>
                <a:t>Modern Cyberpunk Theme -</a:t>
              </a:r>
            </a:p>
            <a:p>
              <a:pPr algn="l" marL="0" indent="0" lvl="0">
                <a:lnSpc>
                  <a:spcPts val="2572"/>
                </a:lnSpc>
              </a:pPr>
              <a:r>
                <a:rPr lang="en-US" sz="1837" spc="77">
                  <a:solidFill>
                    <a:srgbClr val="FFFFFF"/>
                  </a:solidFill>
                  <a:latin typeface="Roca One"/>
                  <a:ea typeface="Roca One"/>
                  <a:cs typeface="Roca One"/>
                  <a:sym typeface="Roca One"/>
                </a:rPr>
                <a:t>The interface uses neon gradients, glowing card containers, and futuristic styling to create an immersive and attractive user experience.</a:t>
              </a:r>
            </a:p>
          </p:txBody>
        </p:sp>
        <p:sp>
          <p:nvSpPr>
            <p:cNvPr name="TextBox 17" id="17"/>
            <p:cNvSpPr txBox="true"/>
            <p:nvPr/>
          </p:nvSpPr>
          <p:spPr>
            <a:xfrm rot="0">
              <a:off x="969223" y="2241173"/>
              <a:ext cx="8448197" cy="2171351"/>
            </a:xfrm>
            <a:prstGeom prst="rect">
              <a:avLst/>
            </a:prstGeom>
          </p:spPr>
          <p:txBody>
            <a:bodyPr anchor="t" rtlCol="false" tIns="0" lIns="0" bIns="0" rIns="0">
              <a:spAutoFit/>
            </a:bodyPr>
            <a:lstStyle/>
            <a:p>
              <a:pPr algn="l">
                <a:lnSpc>
                  <a:spcPts val="2974"/>
                </a:lnSpc>
              </a:pPr>
              <a:r>
                <a:rPr lang="en-US" sz="2124" spc="89">
                  <a:solidFill>
                    <a:srgbClr val="FFFFFF"/>
                  </a:solidFill>
                  <a:latin typeface="Roca One"/>
                  <a:ea typeface="Roca One"/>
                  <a:cs typeface="Roca One"/>
                  <a:sym typeface="Roca One"/>
                </a:rPr>
                <a:t>Sidebar Control Panel -</a:t>
              </a:r>
            </a:p>
            <a:p>
              <a:pPr algn="l" marL="0" indent="0" lvl="0">
                <a:lnSpc>
                  <a:spcPts val="2572"/>
                </a:lnSpc>
              </a:pPr>
              <a:r>
                <a:rPr lang="en-US" sz="1837" spc="77">
                  <a:solidFill>
                    <a:srgbClr val="FFFFFF"/>
                  </a:solidFill>
                  <a:latin typeface="Roca One"/>
                  <a:ea typeface="Roca One"/>
                  <a:cs typeface="Roca One"/>
                  <a:sym typeface="Roca One"/>
                </a:rPr>
                <a:t>All essential settings — such as model information and the auto-send OCR toggle — are placed in the sidebar for quick accessibility without interrupting workflow.</a:t>
              </a:r>
            </a:p>
          </p:txBody>
        </p:sp>
        <p:sp>
          <p:nvSpPr>
            <p:cNvPr name="TextBox 18" id="18"/>
            <p:cNvSpPr txBox="true"/>
            <p:nvPr/>
          </p:nvSpPr>
          <p:spPr>
            <a:xfrm rot="0">
              <a:off x="969223" y="4520441"/>
              <a:ext cx="8448197" cy="2244291"/>
            </a:xfrm>
            <a:prstGeom prst="rect">
              <a:avLst/>
            </a:prstGeom>
          </p:spPr>
          <p:txBody>
            <a:bodyPr anchor="t" rtlCol="false" tIns="0" lIns="0" bIns="0" rIns="0">
              <a:spAutoFit/>
            </a:bodyPr>
            <a:lstStyle/>
            <a:p>
              <a:pPr algn="l">
                <a:lnSpc>
                  <a:spcPts val="2974"/>
                </a:lnSpc>
              </a:pPr>
            </a:p>
            <a:p>
              <a:pPr algn="l">
                <a:lnSpc>
                  <a:spcPts val="2974"/>
                </a:lnSpc>
              </a:pPr>
              <a:r>
                <a:rPr lang="en-US" sz="2124" spc="89">
                  <a:solidFill>
                    <a:srgbClr val="FFFFFF"/>
                  </a:solidFill>
                  <a:latin typeface="Roca One"/>
                  <a:ea typeface="Roca One"/>
                  <a:cs typeface="Roca One"/>
                  <a:sym typeface="Roca One"/>
                </a:rPr>
                <a:t>Smooth Chat Flow -</a:t>
              </a:r>
            </a:p>
            <a:p>
              <a:pPr algn="l" marL="0" indent="0" lvl="0">
                <a:lnSpc>
                  <a:spcPts val="2572"/>
                </a:lnSpc>
              </a:pPr>
              <a:r>
                <a:rPr lang="en-US" sz="1837" spc="77">
                  <a:solidFill>
                    <a:srgbClr val="FFFFFF"/>
                  </a:solidFill>
                  <a:latin typeface="Roca One"/>
                  <a:ea typeface="Roca One"/>
                  <a:cs typeface="Roca One"/>
                  <a:sym typeface="Roca One"/>
                </a:rPr>
                <a:t>Messages appear in proper conversation order with the input box placed at the bottom, ensuring the chat feels natural and easy to follow.</a:t>
              </a:r>
            </a:p>
          </p:txBody>
        </p:sp>
        <p:sp>
          <p:nvSpPr>
            <p:cNvPr name="TextBox 19" id="19"/>
            <p:cNvSpPr txBox="true"/>
            <p:nvPr/>
          </p:nvSpPr>
          <p:spPr>
            <a:xfrm rot="0">
              <a:off x="969223" y="6800444"/>
              <a:ext cx="8448197" cy="2244287"/>
            </a:xfrm>
            <a:prstGeom prst="rect">
              <a:avLst/>
            </a:prstGeom>
          </p:spPr>
          <p:txBody>
            <a:bodyPr anchor="t" rtlCol="false" tIns="0" lIns="0" bIns="0" rIns="0">
              <a:spAutoFit/>
            </a:bodyPr>
            <a:lstStyle/>
            <a:p>
              <a:pPr algn="l">
                <a:lnSpc>
                  <a:spcPts val="2975"/>
                </a:lnSpc>
              </a:pPr>
            </a:p>
            <a:p>
              <a:pPr algn="l">
                <a:lnSpc>
                  <a:spcPts val="2975"/>
                </a:lnSpc>
              </a:pPr>
              <a:r>
                <a:rPr lang="en-US" sz="2125" spc="89">
                  <a:solidFill>
                    <a:srgbClr val="FFFFFF"/>
                  </a:solidFill>
                  <a:latin typeface="Roca One"/>
                  <a:ea typeface="Roca One"/>
                  <a:cs typeface="Roca One"/>
                  <a:sym typeface="Roca One"/>
                </a:rPr>
                <a:t>Interactive Visual Feedback -</a:t>
              </a:r>
            </a:p>
            <a:p>
              <a:pPr algn="l" marL="0" indent="0" lvl="0">
                <a:lnSpc>
                  <a:spcPts val="2572"/>
                </a:lnSpc>
              </a:pPr>
              <a:r>
                <a:rPr lang="en-US" sz="1837" spc="77">
                  <a:solidFill>
                    <a:srgbClr val="FFFFFF"/>
                  </a:solidFill>
                  <a:latin typeface="Roca One"/>
                  <a:ea typeface="Roca One"/>
                  <a:cs typeface="Roca One"/>
                  <a:sym typeface="Roca One"/>
                </a:rPr>
                <a:t>Dynamic elements like generating badges, real-time streaming responses, and visual success alerts help users understand the system’s state instantly.</a:t>
              </a:r>
            </a:p>
          </p:txBody>
        </p:sp>
      </p:grpSp>
      <p:sp>
        <p:nvSpPr>
          <p:cNvPr name="Freeform 20" id="20"/>
          <p:cNvSpPr/>
          <p:nvPr/>
        </p:nvSpPr>
        <p:spPr>
          <a:xfrm flipH="false" flipV="false" rot="0">
            <a:off x="8533160" y="3954804"/>
            <a:ext cx="9551431" cy="5105813"/>
          </a:xfrm>
          <a:custGeom>
            <a:avLst/>
            <a:gdLst/>
            <a:ahLst/>
            <a:cxnLst/>
            <a:rect r="r" b="b" t="t" l="l"/>
            <a:pathLst>
              <a:path h="5105813" w="9551431">
                <a:moveTo>
                  <a:pt x="0" y="0"/>
                </a:moveTo>
                <a:lnTo>
                  <a:pt x="9551430" y="0"/>
                </a:lnTo>
                <a:lnTo>
                  <a:pt x="9551430" y="5105813"/>
                </a:lnTo>
                <a:lnTo>
                  <a:pt x="0" y="5105813"/>
                </a:lnTo>
                <a:lnTo>
                  <a:pt x="0" y="0"/>
                </a:lnTo>
                <a:close/>
              </a:path>
            </a:pathLst>
          </a:custGeom>
          <a:blipFill>
            <a:blip r:embed="rId3"/>
            <a:stretch>
              <a:fillRect l="0" t="-543" r="-2747" b="-12138"/>
            </a:stretch>
          </a:blipFill>
          <a:ln w="47625" cap="sq">
            <a:gradFill>
              <a:gsLst>
                <a:gs pos="0">
                  <a:srgbClr val="5DE0E6">
                    <a:alpha val="100000"/>
                  </a:srgbClr>
                </a:gs>
                <a:gs pos="100000">
                  <a:srgbClr val="004AAD">
                    <a:alpha val="100000"/>
                  </a:srgbClr>
                </a:gs>
              </a:gsLst>
              <a:lin ang="0"/>
            </a:gradFill>
            <a:prstDash val="solid"/>
            <a:miter/>
          </a:ln>
        </p:spPr>
      </p:sp>
      <p:sp>
        <p:nvSpPr>
          <p:cNvPr name="TextBox 21" id="21"/>
          <p:cNvSpPr txBox="true"/>
          <p:nvPr/>
        </p:nvSpPr>
        <p:spPr>
          <a:xfrm rot="0">
            <a:off x="9221600" y="2229443"/>
            <a:ext cx="8174550" cy="803275"/>
          </a:xfrm>
          <a:prstGeom prst="rect">
            <a:avLst/>
          </a:prstGeom>
        </p:spPr>
        <p:txBody>
          <a:bodyPr anchor="t" rtlCol="false" tIns="0" lIns="0" bIns="0" rIns="0">
            <a:spAutoFit/>
          </a:bodyPr>
          <a:lstStyle/>
          <a:p>
            <a:pPr algn="l">
              <a:lnSpc>
                <a:spcPts val="6500"/>
              </a:lnSpc>
            </a:pPr>
            <a:r>
              <a:rPr lang="en-US" sz="5000" b="true">
                <a:solidFill>
                  <a:srgbClr val="FFFFFF"/>
                </a:solidFill>
                <a:latin typeface="Roca One Heavy"/>
                <a:ea typeface="Roca One Heavy"/>
                <a:cs typeface="Roca One Heavy"/>
                <a:sym typeface="Roca One Heavy"/>
              </a:rPr>
              <a:t>User Interface Experience</a:t>
            </a:r>
          </a:p>
        </p:txBody>
      </p:sp>
      <p:sp>
        <p:nvSpPr>
          <p:cNvPr name="AutoShape 22" id="22"/>
          <p:cNvSpPr/>
          <p:nvPr/>
        </p:nvSpPr>
        <p:spPr>
          <a:xfrm flipV="true">
            <a:off x="8847289" y="3051768"/>
            <a:ext cx="8923171" cy="17178"/>
          </a:xfrm>
          <a:prstGeom prst="line">
            <a:avLst/>
          </a:prstGeom>
          <a:ln cap="flat" w="38100">
            <a:solidFill>
              <a:srgbClr val="FFFFFF"/>
            </a:solidFill>
            <a:prstDash val="solid"/>
            <a:headEnd type="diamond" len="lg" w="lg"/>
            <a:tailEnd type="diamond" len="lg" w="lg"/>
          </a:ln>
        </p:spPr>
      </p:sp>
    </p:spTree>
  </p:cSld>
  <p:clrMapOvr>
    <a:masterClrMapping/>
  </p:clrMapOvr>
  <p:transition spd="slow">
    <p:cover dir="lu"/>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577852" y="3841107"/>
            <a:ext cx="11132295" cy="4150385"/>
          </a:xfrm>
          <a:custGeom>
            <a:avLst/>
            <a:gdLst/>
            <a:ahLst/>
            <a:cxnLst/>
            <a:rect r="r" b="b" t="t" l="l"/>
            <a:pathLst>
              <a:path h="4150385" w="11132295">
                <a:moveTo>
                  <a:pt x="0" y="0"/>
                </a:moveTo>
                <a:lnTo>
                  <a:pt x="11132296" y="0"/>
                </a:lnTo>
                <a:lnTo>
                  <a:pt x="11132296" y="4150385"/>
                </a:lnTo>
                <a:lnTo>
                  <a:pt x="0" y="4150385"/>
                </a:lnTo>
                <a:lnTo>
                  <a:pt x="0" y="0"/>
                </a:lnTo>
                <a:close/>
              </a:path>
            </a:pathLst>
          </a:custGeom>
          <a:blipFill>
            <a:blip r:embed="rId3"/>
            <a:stretch>
              <a:fillRect l="-1517" t="-23747" r="0" b="-22610"/>
            </a:stretch>
          </a:blipFill>
        </p:spPr>
      </p:sp>
      <p:sp>
        <p:nvSpPr>
          <p:cNvPr name="TextBox 4" id="4"/>
          <p:cNvSpPr txBox="true"/>
          <p:nvPr/>
        </p:nvSpPr>
        <p:spPr>
          <a:xfrm rot="0">
            <a:off x="1028700" y="2226954"/>
            <a:ext cx="16230600" cy="989965"/>
          </a:xfrm>
          <a:prstGeom prst="rect">
            <a:avLst/>
          </a:prstGeom>
        </p:spPr>
        <p:txBody>
          <a:bodyPr anchor="t" rtlCol="false" tIns="0" lIns="0" bIns="0" rIns="0">
            <a:spAutoFit/>
          </a:bodyPr>
          <a:lstStyle/>
          <a:p>
            <a:pPr algn="just" marL="0" indent="0" lvl="0">
              <a:lnSpc>
                <a:spcPts val="2659"/>
              </a:lnSpc>
            </a:pPr>
            <a:r>
              <a:rPr lang="en-US" sz="1899" spc="79">
                <a:solidFill>
                  <a:srgbClr val="FFFFFF"/>
                </a:solidFill>
                <a:latin typeface="Roca One"/>
                <a:ea typeface="Roca One"/>
                <a:cs typeface="Roca One"/>
                <a:sym typeface="Roca One"/>
              </a:rPr>
              <a:t>To run DebAI successfully, users need Python 3.10 or above, along with the Tesseract OCR engine installed at the correct path, and optionally Ollama for local AI inference. Essential dependencies such as Streamlit, Pillow, pytesseract, and pdfplumber must be installed via pip.</a:t>
            </a:r>
          </a:p>
        </p:txBody>
      </p:sp>
      <p:sp>
        <p:nvSpPr>
          <p:cNvPr name="TextBox 5" id="5"/>
          <p:cNvSpPr txBox="true"/>
          <p:nvPr/>
        </p:nvSpPr>
        <p:spPr>
          <a:xfrm rot="0">
            <a:off x="1028700" y="8577580"/>
            <a:ext cx="16230600" cy="656590"/>
          </a:xfrm>
          <a:prstGeom prst="rect">
            <a:avLst/>
          </a:prstGeom>
        </p:spPr>
        <p:txBody>
          <a:bodyPr anchor="t" rtlCol="false" tIns="0" lIns="0" bIns="0" rIns="0">
            <a:spAutoFit/>
          </a:bodyPr>
          <a:lstStyle/>
          <a:p>
            <a:pPr algn="just" marL="0" indent="0" lvl="0">
              <a:lnSpc>
                <a:spcPts val="2659"/>
              </a:lnSpc>
            </a:pPr>
            <a:r>
              <a:rPr lang="en-US" sz="1899" spc="79">
                <a:solidFill>
                  <a:srgbClr val="FFFFFF"/>
                </a:solidFill>
                <a:latin typeface="Roca One"/>
                <a:ea typeface="Roca One"/>
                <a:cs typeface="Roca One"/>
                <a:sym typeface="Roca One"/>
              </a:rPr>
              <a:t>Once setup is complete, the application can be launched simply through the command streamlit run AI.py. The system operates fully offline, making it ideal for secure and private data environments where cloud-based OCR or AI services are not permitted.</a:t>
            </a:r>
          </a:p>
        </p:txBody>
      </p:sp>
      <p:grpSp>
        <p:nvGrpSpPr>
          <p:cNvPr name="Group 6" id="6"/>
          <p:cNvGrpSpPr/>
          <p:nvPr/>
        </p:nvGrpSpPr>
        <p:grpSpPr>
          <a:xfrm rot="0">
            <a:off x="2710460" y="639755"/>
            <a:ext cx="12262311" cy="774700"/>
            <a:chOff x="0" y="0"/>
            <a:chExt cx="16349749" cy="1032933"/>
          </a:xfrm>
        </p:grpSpPr>
        <p:sp>
          <p:nvSpPr>
            <p:cNvPr name="TextBox 7" id="7"/>
            <p:cNvSpPr txBox="true"/>
            <p:nvPr/>
          </p:nvSpPr>
          <p:spPr>
            <a:xfrm rot="0">
              <a:off x="0" y="-47625"/>
              <a:ext cx="16349749" cy="1055158"/>
            </a:xfrm>
            <a:prstGeom prst="rect">
              <a:avLst/>
            </a:prstGeom>
          </p:spPr>
          <p:txBody>
            <a:bodyPr anchor="t" rtlCol="false" tIns="0" lIns="0" bIns="0" rIns="0">
              <a:spAutoFit/>
            </a:bodyPr>
            <a:lstStyle/>
            <a:p>
              <a:pPr algn="l">
                <a:lnSpc>
                  <a:spcPts val="6500"/>
                </a:lnSpc>
              </a:pPr>
              <a:r>
                <a:rPr lang="en-US" sz="5000" b="true">
                  <a:solidFill>
                    <a:srgbClr val="FFFFFF"/>
                  </a:solidFill>
                  <a:latin typeface="Roca One Heavy"/>
                  <a:ea typeface="Roca One Heavy"/>
                  <a:cs typeface="Roca One Heavy"/>
                  <a:sym typeface="Roca One Heavy"/>
                </a:rPr>
                <a:t>Installation, Deployment &amp; Commands</a:t>
              </a:r>
            </a:p>
          </p:txBody>
        </p:sp>
        <p:sp>
          <p:nvSpPr>
            <p:cNvPr name="AutoShape 8" id="8"/>
            <p:cNvSpPr/>
            <p:nvPr/>
          </p:nvSpPr>
          <p:spPr>
            <a:xfrm>
              <a:off x="27758" y="1007533"/>
              <a:ext cx="16321990" cy="0"/>
            </a:xfrm>
            <a:prstGeom prst="line">
              <a:avLst/>
            </a:prstGeom>
            <a:ln cap="flat" w="50800">
              <a:solidFill>
                <a:srgbClr val="FFFFFF"/>
              </a:solidFill>
              <a:prstDash val="solid"/>
              <a:headEnd type="diamond" len="lg" w="lg"/>
              <a:tailEnd type="diamond" len="lg" w="lg"/>
            </a:ln>
          </p:spPr>
        </p:sp>
      </p:grpSp>
    </p:spTree>
  </p:cSld>
  <p:clrMapOvr>
    <a:masterClrMapping/>
  </p:clrMapOvr>
  <p:transition spd="slow">
    <p:cover dir="lu"/>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444" r="0" b="0"/>
            </a:stretch>
          </a:blipFill>
        </p:spPr>
      </p:sp>
      <p:grpSp>
        <p:nvGrpSpPr>
          <p:cNvPr name="Group 3" id="3"/>
          <p:cNvGrpSpPr/>
          <p:nvPr/>
        </p:nvGrpSpPr>
        <p:grpSpPr>
          <a:xfrm rot="0">
            <a:off x="1981495" y="2104905"/>
            <a:ext cx="14325010" cy="7855293"/>
            <a:chOff x="0" y="0"/>
            <a:chExt cx="6361081" cy="3488176"/>
          </a:xfrm>
        </p:grpSpPr>
        <p:sp>
          <p:nvSpPr>
            <p:cNvPr name="Freeform 4" id="4"/>
            <p:cNvSpPr/>
            <p:nvPr/>
          </p:nvSpPr>
          <p:spPr>
            <a:xfrm flipH="false" flipV="false" rot="0">
              <a:off x="0" y="0"/>
              <a:ext cx="6361081" cy="3488176"/>
            </a:xfrm>
            <a:custGeom>
              <a:avLst/>
              <a:gdLst/>
              <a:ahLst/>
              <a:cxnLst/>
              <a:rect r="r" b="b" t="t" l="l"/>
              <a:pathLst>
                <a:path h="3488176" w="6361081">
                  <a:moveTo>
                    <a:pt x="5404" y="0"/>
                  </a:moveTo>
                  <a:lnTo>
                    <a:pt x="6355677" y="0"/>
                  </a:lnTo>
                  <a:cubicBezTo>
                    <a:pt x="6358662" y="0"/>
                    <a:pt x="6361081" y="2420"/>
                    <a:pt x="6361081" y="5404"/>
                  </a:cubicBezTo>
                  <a:lnTo>
                    <a:pt x="6361081" y="3482772"/>
                  </a:lnTo>
                  <a:cubicBezTo>
                    <a:pt x="6361081" y="3484205"/>
                    <a:pt x="6360512" y="3485580"/>
                    <a:pt x="6359499" y="3486593"/>
                  </a:cubicBezTo>
                  <a:cubicBezTo>
                    <a:pt x="6358485" y="3487607"/>
                    <a:pt x="6357110" y="3488176"/>
                    <a:pt x="6355677" y="3488176"/>
                  </a:cubicBezTo>
                  <a:lnTo>
                    <a:pt x="5404" y="3488176"/>
                  </a:lnTo>
                  <a:cubicBezTo>
                    <a:pt x="3971" y="3488176"/>
                    <a:pt x="2596" y="3487607"/>
                    <a:pt x="1583" y="3486593"/>
                  </a:cubicBezTo>
                  <a:cubicBezTo>
                    <a:pt x="569" y="3485580"/>
                    <a:pt x="0" y="3484205"/>
                    <a:pt x="0" y="3482772"/>
                  </a:cubicBezTo>
                  <a:lnTo>
                    <a:pt x="0" y="5404"/>
                  </a:lnTo>
                  <a:cubicBezTo>
                    <a:pt x="0" y="3971"/>
                    <a:pt x="569" y="2596"/>
                    <a:pt x="1583" y="1583"/>
                  </a:cubicBezTo>
                  <a:cubicBezTo>
                    <a:pt x="2596" y="569"/>
                    <a:pt x="3971" y="0"/>
                    <a:pt x="5404" y="0"/>
                  </a:cubicBezTo>
                  <a:close/>
                </a:path>
              </a:pathLst>
            </a:custGeom>
            <a:blipFill>
              <a:blip r:embed="rId3"/>
              <a:stretch>
                <a:fillRect l="0" t="-434" r="0" b="-434"/>
              </a:stretch>
            </a:blipFill>
            <a:ln w="47625" cap="sq">
              <a:solidFill>
                <a:srgbClr val="D2D2D2"/>
              </a:solidFill>
              <a:prstDash val="solid"/>
              <a:miter/>
            </a:ln>
          </p:spPr>
        </p:sp>
      </p:grpSp>
      <p:grpSp>
        <p:nvGrpSpPr>
          <p:cNvPr name="Group 5" id="5"/>
          <p:cNvGrpSpPr/>
          <p:nvPr/>
        </p:nvGrpSpPr>
        <p:grpSpPr>
          <a:xfrm rot="0">
            <a:off x="4612689" y="350403"/>
            <a:ext cx="9062623" cy="1356593"/>
            <a:chOff x="0" y="0"/>
            <a:chExt cx="12083497" cy="1808791"/>
          </a:xfrm>
        </p:grpSpPr>
        <p:sp>
          <p:nvSpPr>
            <p:cNvPr name="TextBox 6" id="6"/>
            <p:cNvSpPr txBox="true"/>
            <p:nvPr/>
          </p:nvSpPr>
          <p:spPr>
            <a:xfrm rot="0">
              <a:off x="0" y="-38100"/>
              <a:ext cx="12083497" cy="1796091"/>
            </a:xfrm>
            <a:prstGeom prst="rect">
              <a:avLst/>
            </a:prstGeom>
          </p:spPr>
          <p:txBody>
            <a:bodyPr anchor="t" rtlCol="false" tIns="0" lIns="0" bIns="0" rIns="0">
              <a:spAutoFit/>
            </a:bodyPr>
            <a:lstStyle/>
            <a:p>
              <a:pPr algn="ctr">
                <a:lnSpc>
                  <a:spcPts val="5436"/>
                </a:lnSpc>
              </a:pPr>
              <a:r>
                <a:rPr lang="en-US" sz="4181" b="true">
                  <a:solidFill>
                    <a:srgbClr val="FFFFFF"/>
                  </a:solidFill>
                  <a:latin typeface="Roca One Heavy"/>
                  <a:ea typeface="Roca One Heavy"/>
                  <a:cs typeface="Roca One Heavy"/>
                  <a:sym typeface="Roca One Heavy"/>
                </a:rPr>
                <a:t>A Video Demonstrating My Chatbot Function</a:t>
              </a:r>
            </a:p>
          </p:txBody>
        </p:sp>
        <p:sp>
          <p:nvSpPr>
            <p:cNvPr name="AutoShape 7" id="7"/>
            <p:cNvSpPr/>
            <p:nvPr/>
          </p:nvSpPr>
          <p:spPr>
            <a:xfrm>
              <a:off x="0" y="1783391"/>
              <a:ext cx="12083497" cy="0"/>
            </a:xfrm>
            <a:prstGeom prst="line">
              <a:avLst/>
            </a:prstGeom>
            <a:ln cap="flat" w="50800">
              <a:solidFill>
                <a:srgbClr val="FFFFFF"/>
              </a:solidFill>
              <a:prstDash val="solid"/>
              <a:headEnd type="diamond" len="lg" w="lg"/>
              <a:tailEnd type="diamond" len="lg" w="lg"/>
            </a:ln>
          </p:spPr>
        </p:sp>
      </p:grpSp>
    </p:spTree>
  </p:cSld>
  <p:clrMapOvr>
    <a:masterClrMapping/>
  </p:clrMapOvr>
  <p:transition spd="slow">
    <p:cover dir="lu"/>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9483907" y="5498026"/>
            <a:ext cx="3545220" cy="3760274"/>
            <a:chOff x="0" y="0"/>
            <a:chExt cx="4726959" cy="5013699"/>
          </a:xfrm>
        </p:grpSpPr>
        <p:grpSp>
          <p:nvGrpSpPr>
            <p:cNvPr name="Group 4" id="4"/>
            <p:cNvGrpSpPr>
              <a:grpSpLocks noChangeAspect="true"/>
            </p:cNvGrpSpPr>
            <p:nvPr/>
          </p:nvGrpSpPr>
          <p:grpSpPr>
            <a:xfrm rot="0">
              <a:off x="0" y="0"/>
              <a:ext cx="4726959" cy="4726959"/>
              <a:chOff x="0" y="0"/>
              <a:chExt cx="14840029" cy="14840029"/>
            </a:xfrm>
          </p:grpSpPr>
          <p:sp>
            <p:nvSpPr>
              <p:cNvPr name="Freeform 5" id="5"/>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10A5FF">
                      <a:alpha val="100000"/>
                    </a:srgbClr>
                  </a:gs>
                  <a:gs pos="100000">
                    <a:srgbClr val="041E4E">
                      <a:alpha val="100000"/>
                    </a:srgbClr>
                  </a:gs>
                </a:gsLst>
                <a:lin ang="5400000"/>
              </a:gradFill>
            </p:spPr>
          </p:sp>
          <p:sp>
            <p:nvSpPr>
              <p:cNvPr name="Freeform 6" id="6"/>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gradFill rotWithShape="true">
                <a:gsLst>
                  <a:gs pos="0">
                    <a:srgbClr val="03295A">
                      <a:alpha val="62000"/>
                    </a:srgbClr>
                  </a:gs>
                  <a:gs pos="100000">
                    <a:srgbClr val="041468">
                      <a:alpha val="74500"/>
                    </a:srgbClr>
                  </a:gs>
                </a:gsLst>
                <a:lin ang="0"/>
              </a:gradFill>
            </p:spPr>
          </p:sp>
          <p:sp>
            <p:nvSpPr>
              <p:cNvPr name="Freeform 7" id="7"/>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223" t="-586" r="223" b="-586"/>
                </a:stretch>
              </a:blipFill>
            </p:spPr>
          </p:sp>
        </p:grpSp>
        <p:grpSp>
          <p:nvGrpSpPr>
            <p:cNvPr name="Group 8" id="8"/>
            <p:cNvGrpSpPr/>
            <p:nvPr/>
          </p:nvGrpSpPr>
          <p:grpSpPr>
            <a:xfrm rot="0">
              <a:off x="309457" y="4005488"/>
              <a:ext cx="4108046" cy="1008211"/>
              <a:chOff x="0" y="0"/>
              <a:chExt cx="719876" cy="176674"/>
            </a:xfrm>
          </p:grpSpPr>
          <p:sp>
            <p:nvSpPr>
              <p:cNvPr name="Freeform 9" id="9"/>
              <p:cNvSpPr/>
              <p:nvPr/>
            </p:nvSpPr>
            <p:spPr>
              <a:xfrm flipH="false" flipV="false" rot="0">
                <a:off x="0" y="0"/>
                <a:ext cx="719876" cy="176674"/>
              </a:xfrm>
              <a:custGeom>
                <a:avLst/>
                <a:gdLst/>
                <a:ahLst/>
                <a:cxnLst/>
                <a:rect r="r" b="b" t="t" l="l"/>
                <a:pathLst>
                  <a:path h="176674" w="719876">
                    <a:moveTo>
                      <a:pt x="47743" y="0"/>
                    </a:moveTo>
                    <a:lnTo>
                      <a:pt x="672134" y="0"/>
                    </a:lnTo>
                    <a:cubicBezTo>
                      <a:pt x="698501" y="0"/>
                      <a:pt x="719876" y="21375"/>
                      <a:pt x="719876" y="47743"/>
                    </a:cubicBezTo>
                    <a:lnTo>
                      <a:pt x="719876" y="128932"/>
                    </a:lnTo>
                    <a:cubicBezTo>
                      <a:pt x="719876" y="141594"/>
                      <a:pt x="714846" y="153738"/>
                      <a:pt x="705893" y="162691"/>
                    </a:cubicBezTo>
                    <a:cubicBezTo>
                      <a:pt x="696939" y="171644"/>
                      <a:pt x="684796" y="176674"/>
                      <a:pt x="672134" y="176674"/>
                    </a:cubicBezTo>
                    <a:lnTo>
                      <a:pt x="47743" y="176674"/>
                    </a:lnTo>
                    <a:cubicBezTo>
                      <a:pt x="21375" y="176674"/>
                      <a:pt x="0" y="155299"/>
                      <a:pt x="0" y="128932"/>
                    </a:cubicBezTo>
                    <a:lnTo>
                      <a:pt x="0" y="47743"/>
                    </a:lnTo>
                    <a:cubicBezTo>
                      <a:pt x="0" y="35080"/>
                      <a:pt x="5030" y="22937"/>
                      <a:pt x="13983" y="13983"/>
                    </a:cubicBezTo>
                    <a:cubicBezTo>
                      <a:pt x="22937" y="5030"/>
                      <a:pt x="35080" y="0"/>
                      <a:pt x="47743" y="0"/>
                    </a:cubicBezTo>
                    <a:close/>
                  </a:path>
                </a:pathLst>
              </a:custGeom>
              <a:gradFill rotWithShape="true">
                <a:gsLst>
                  <a:gs pos="0">
                    <a:srgbClr val="10A5FF">
                      <a:alpha val="100000"/>
                    </a:srgbClr>
                  </a:gs>
                  <a:gs pos="100000">
                    <a:srgbClr val="041E4E">
                      <a:alpha val="100000"/>
                    </a:srgbClr>
                  </a:gs>
                </a:gsLst>
                <a:lin ang="5400000"/>
              </a:gradFill>
            </p:spPr>
          </p:sp>
          <p:sp>
            <p:nvSpPr>
              <p:cNvPr name="TextBox 10" id="10"/>
              <p:cNvSpPr txBox="true"/>
              <p:nvPr/>
            </p:nvSpPr>
            <p:spPr>
              <a:xfrm>
                <a:off x="0" y="-28575"/>
                <a:ext cx="719876" cy="205249"/>
              </a:xfrm>
              <a:prstGeom prst="rect">
                <a:avLst/>
              </a:prstGeom>
            </p:spPr>
            <p:txBody>
              <a:bodyPr anchor="ctr" rtlCol="false" tIns="0" lIns="0" bIns="0" rIns="0"/>
              <a:lstStyle/>
              <a:p>
                <a:pPr algn="ctr">
                  <a:lnSpc>
                    <a:spcPts val="2600"/>
                  </a:lnSpc>
                </a:pPr>
                <a:r>
                  <a:rPr lang="en-US" sz="2000" spc="84">
                    <a:solidFill>
                      <a:srgbClr val="FFFFFF"/>
                    </a:solidFill>
                    <a:latin typeface="Roca One"/>
                    <a:ea typeface="Roca One"/>
                    <a:cs typeface="Roca One"/>
                    <a:sym typeface="Roca One"/>
                  </a:rPr>
                  <a:t>Intelligent </a:t>
                </a:r>
              </a:p>
              <a:p>
                <a:pPr algn="ctr" marL="0" indent="0" lvl="0">
                  <a:lnSpc>
                    <a:spcPts val="2600"/>
                  </a:lnSpc>
                  <a:spcBef>
                    <a:spcPct val="0"/>
                  </a:spcBef>
                </a:pPr>
                <a:r>
                  <a:rPr lang="en-US" sz="2000" spc="84">
                    <a:solidFill>
                      <a:srgbClr val="FFFFFF"/>
                    </a:solidFill>
                    <a:latin typeface="Roca One"/>
                    <a:ea typeface="Roca One"/>
                    <a:cs typeface="Roca One"/>
                    <a:sym typeface="Roca One"/>
                  </a:rPr>
                  <a:t>Capabilities</a:t>
                </a:r>
              </a:p>
            </p:txBody>
          </p:sp>
        </p:grpSp>
      </p:grpSp>
      <p:grpSp>
        <p:nvGrpSpPr>
          <p:cNvPr name="Group 11" id="11"/>
          <p:cNvGrpSpPr/>
          <p:nvPr/>
        </p:nvGrpSpPr>
        <p:grpSpPr>
          <a:xfrm rot="0">
            <a:off x="13714080" y="5498026"/>
            <a:ext cx="3545220" cy="3760274"/>
            <a:chOff x="0" y="0"/>
            <a:chExt cx="4726959" cy="5013699"/>
          </a:xfrm>
        </p:grpSpPr>
        <p:grpSp>
          <p:nvGrpSpPr>
            <p:cNvPr name="Group 12" id="12"/>
            <p:cNvGrpSpPr>
              <a:grpSpLocks noChangeAspect="true"/>
            </p:cNvGrpSpPr>
            <p:nvPr/>
          </p:nvGrpSpPr>
          <p:grpSpPr>
            <a:xfrm rot="0">
              <a:off x="0" y="0"/>
              <a:ext cx="4726959" cy="4726959"/>
              <a:chOff x="0" y="0"/>
              <a:chExt cx="14840029" cy="14840029"/>
            </a:xfrm>
          </p:grpSpPr>
          <p:sp>
            <p:nvSpPr>
              <p:cNvPr name="Freeform 13" id="13"/>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10A5FF">
                      <a:alpha val="100000"/>
                    </a:srgbClr>
                  </a:gs>
                  <a:gs pos="100000">
                    <a:srgbClr val="041E4E">
                      <a:alpha val="100000"/>
                    </a:srgbClr>
                  </a:gs>
                </a:gsLst>
                <a:lin ang="5400000"/>
              </a:gradFill>
            </p:spPr>
          </p:sp>
          <p:sp>
            <p:nvSpPr>
              <p:cNvPr name="Freeform 14" id="14"/>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gradFill rotWithShape="true">
                <a:gsLst>
                  <a:gs pos="0">
                    <a:srgbClr val="03295A">
                      <a:alpha val="62000"/>
                    </a:srgbClr>
                  </a:gs>
                  <a:gs pos="100000">
                    <a:srgbClr val="041468">
                      <a:alpha val="74500"/>
                    </a:srgbClr>
                  </a:gs>
                </a:gsLst>
                <a:lin ang="0"/>
              </a:gradFill>
            </p:spPr>
          </p:sp>
          <p:sp>
            <p:nvSpPr>
              <p:cNvPr name="Freeform 15" id="15"/>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0" r="223" b="0"/>
                </a:stretch>
              </a:blipFill>
            </p:spPr>
          </p:sp>
        </p:grpSp>
        <p:grpSp>
          <p:nvGrpSpPr>
            <p:cNvPr name="Group 16" id="16"/>
            <p:cNvGrpSpPr/>
            <p:nvPr/>
          </p:nvGrpSpPr>
          <p:grpSpPr>
            <a:xfrm rot="0">
              <a:off x="309457" y="4005488"/>
              <a:ext cx="4108046" cy="1008211"/>
              <a:chOff x="0" y="0"/>
              <a:chExt cx="719876" cy="176674"/>
            </a:xfrm>
          </p:grpSpPr>
          <p:sp>
            <p:nvSpPr>
              <p:cNvPr name="Freeform 17" id="17"/>
              <p:cNvSpPr/>
              <p:nvPr/>
            </p:nvSpPr>
            <p:spPr>
              <a:xfrm flipH="false" flipV="false" rot="0">
                <a:off x="0" y="0"/>
                <a:ext cx="719876" cy="176674"/>
              </a:xfrm>
              <a:custGeom>
                <a:avLst/>
                <a:gdLst/>
                <a:ahLst/>
                <a:cxnLst/>
                <a:rect r="r" b="b" t="t" l="l"/>
                <a:pathLst>
                  <a:path h="176674" w="719876">
                    <a:moveTo>
                      <a:pt x="47743" y="0"/>
                    </a:moveTo>
                    <a:lnTo>
                      <a:pt x="672134" y="0"/>
                    </a:lnTo>
                    <a:cubicBezTo>
                      <a:pt x="698501" y="0"/>
                      <a:pt x="719876" y="21375"/>
                      <a:pt x="719876" y="47743"/>
                    </a:cubicBezTo>
                    <a:lnTo>
                      <a:pt x="719876" y="128932"/>
                    </a:lnTo>
                    <a:cubicBezTo>
                      <a:pt x="719876" y="141594"/>
                      <a:pt x="714846" y="153738"/>
                      <a:pt x="705893" y="162691"/>
                    </a:cubicBezTo>
                    <a:cubicBezTo>
                      <a:pt x="696939" y="171644"/>
                      <a:pt x="684796" y="176674"/>
                      <a:pt x="672134" y="176674"/>
                    </a:cubicBezTo>
                    <a:lnTo>
                      <a:pt x="47743" y="176674"/>
                    </a:lnTo>
                    <a:cubicBezTo>
                      <a:pt x="21375" y="176674"/>
                      <a:pt x="0" y="155299"/>
                      <a:pt x="0" y="128932"/>
                    </a:cubicBezTo>
                    <a:lnTo>
                      <a:pt x="0" y="47743"/>
                    </a:lnTo>
                    <a:cubicBezTo>
                      <a:pt x="0" y="35080"/>
                      <a:pt x="5030" y="22937"/>
                      <a:pt x="13983" y="13983"/>
                    </a:cubicBezTo>
                    <a:cubicBezTo>
                      <a:pt x="22937" y="5030"/>
                      <a:pt x="35080" y="0"/>
                      <a:pt x="47743" y="0"/>
                    </a:cubicBezTo>
                    <a:close/>
                  </a:path>
                </a:pathLst>
              </a:custGeom>
              <a:gradFill rotWithShape="true">
                <a:gsLst>
                  <a:gs pos="0">
                    <a:srgbClr val="10A5FF">
                      <a:alpha val="100000"/>
                    </a:srgbClr>
                  </a:gs>
                  <a:gs pos="100000">
                    <a:srgbClr val="041E4E">
                      <a:alpha val="100000"/>
                    </a:srgbClr>
                  </a:gs>
                </a:gsLst>
                <a:lin ang="5400000"/>
              </a:gradFill>
            </p:spPr>
          </p:sp>
          <p:sp>
            <p:nvSpPr>
              <p:cNvPr name="TextBox 18" id="18"/>
              <p:cNvSpPr txBox="true"/>
              <p:nvPr/>
            </p:nvSpPr>
            <p:spPr>
              <a:xfrm>
                <a:off x="0" y="-28575"/>
                <a:ext cx="719876" cy="205249"/>
              </a:xfrm>
              <a:prstGeom prst="rect">
                <a:avLst/>
              </a:prstGeom>
            </p:spPr>
            <p:txBody>
              <a:bodyPr anchor="ctr" rtlCol="false" tIns="0" lIns="0" bIns="0" rIns="0"/>
              <a:lstStyle/>
              <a:p>
                <a:pPr algn="ctr" marL="0" indent="0" lvl="0">
                  <a:lnSpc>
                    <a:spcPts val="2600"/>
                  </a:lnSpc>
                  <a:spcBef>
                    <a:spcPct val="0"/>
                  </a:spcBef>
                </a:pPr>
                <a:r>
                  <a:rPr lang="en-US" sz="2000" spc="84">
                    <a:solidFill>
                      <a:srgbClr val="FFFFFF"/>
                    </a:solidFill>
                    <a:latin typeface="Roca One"/>
                    <a:ea typeface="Roca One"/>
                    <a:cs typeface="Roca One"/>
                    <a:sym typeface="Roca One"/>
                  </a:rPr>
                  <a:t>Smart System Architecture</a:t>
                </a:r>
              </a:p>
            </p:txBody>
          </p:sp>
        </p:grpSp>
      </p:grpSp>
      <p:grpSp>
        <p:nvGrpSpPr>
          <p:cNvPr name="Group 19" id="19"/>
          <p:cNvGrpSpPr/>
          <p:nvPr/>
        </p:nvGrpSpPr>
        <p:grpSpPr>
          <a:xfrm rot="0">
            <a:off x="5252888" y="5498026"/>
            <a:ext cx="3545220" cy="3760274"/>
            <a:chOff x="0" y="0"/>
            <a:chExt cx="4726959" cy="5013699"/>
          </a:xfrm>
        </p:grpSpPr>
        <p:grpSp>
          <p:nvGrpSpPr>
            <p:cNvPr name="Group 20" id="20"/>
            <p:cNvGrpSpPr>
              <a:grpSpLocks noChangeAspect="true"/>
            </p:cNvGrpSpPr>
            <p:nvPr/>
          </p:nvGrpSpPr>
          <p:grpSpPr>
            <a:xfrm rot="0">
              <a:off x="0" y="0"/>
              <a:ext cx="4726959" cy="4726959"/>
              <a:chOff x="0" y="0"/>
              <a:chExt cx="14840029" cy="14840029"/>
            </a:xfrm>
          </p:grpSpPr>
          <p:sp>
            <p:nvSpPr>
              <p:cNvPr name="Freeform 21" id="2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10A5FF">
                      <a:alpha val="100000"/>
                    </a:srgbClr>
                  </a:gs>
                  <a:gs pos="100000">
                    <a:srgbClr val="041E4E">
                      <a:alpha val="100000"/>
                    </a:srgbClr>
                  </a:gs>
                </a:gsLst>
                <a:lin ang="5400000"/>
              </a:gradFill>
            </p:spPr>
          </p:sp>
          <p:sp>
            <p:nvSpPr>
              <p:cNvPr name="Freeform 22" id="2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gradFill rotWithShape="true">
                <a:gsLst>
                  <a:gs pos="0">
                    <a:srgbClr val="03295A">
                      <a:alpha val="62000"/>
                    </a:srgbClr>
                  </a:gs>
                  <a:gs pos="100000">
                    <a:srgbClr val="041468">
                      <a:alpha val="74500"/>
                    </a:srgbClr>
                  </a:gs>
                </a:gsLst>
                <a:lin ang="0"/>
              </a:gradFill>
            </p:spPr>
          </p:sp>
          <p:sp>
            <p:nvSpPr>
              <p:cNvPr name="Freeform 23" id="2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40916" t="0" r="-40916" b="0"/>
                </a:stretch>
              </a:blipFill>
            </p:spPr>
          </p:sp>
        </p:grpSp>
        <p:grpSp>
          <p:nvGrpSpPr>
            <p:cNvPr name="Group 24" id="24"/>
            <p:cNvGrpSpPr/>
            <p:nvPr/>
          </p:nvGrpSpPr>
          <p:grpSpPr>
            <a:xfrm rot="0">
              <a:off x="309457" y="4005488"/>
              <a:ext cx="4108046" cy="1008211"/>
              <a:chOff x="0" y="0"/>
              <a:chExt cx="719876" cy="176674"/>
            </a:xfrm>
          </p:grpSpPr>
          <p:sp>
            <p:nvSpPr>
              <p:cNvPr name="Freeform 25" id="25"/>
              <p:cNvSpPr/>
              <p:nvPr/>
            </p:nvSpPr>
            <p:spPr>
              <a:xfrm flipH="false" flipV="false" rot="0">
                <a:off x="0" y="0"/>
                <a:ext cx="719876" cy="176674"/>
              </a:xfrm>
              <a:custGeom>
                <a:avLst/>
                <a:gdLst/>
                <a:ahLst/>
                <a:cxnLst/>
                <a:rect r="r" b="b" t="t" l="l"/>
                <a:pathLst>
                  <a:path h="176674" w="719876">
                    <a:moveTo>
                      <a:pt x="47743" y="0"/>
                    </a:moveTo>
                    <a:lnTo>
                      <a:pt x="672134" y="0"/>
                    </a:lnTo>
                    <a:cubicBezTo>
                      <a:pt x="698501" y="0"/>
                      <a:pt x="719876" y="21375"/>
                      <a:pt x="719876" y="47743"/>
                    </a:cubicBezTo>
                    <a:lnTo>
                      <a:pt x="719876" y="128932"/>
                    </a:lnTo>
                    <a:cubicBezTo>
                      <a:pt x="719876" y="141594"/>
                      <a:pt x="714846" y="153738"/>
                      <a:pt x="705893" y="162691"/>
                    </a:cubicBezTo>
                    <a:cubicBezTo>
                      <a:pt x="696939" y="171644"/>
                      <a:pt x="684796" y="176674"/>
                      <a:pt x="672134" y="176674"/>
                    </a:cubicBezTo>
                    <a:lnTo>
                      <a:pt x="47743" y="176674"/>
                    </a:lnTo>
                    <a:cubicBezTo>
                      <a:pt x="21375" y="176674"/>
                      <a:pt x="0" y="155299"/>
                      <a:pt x="0" y="128932"/>
                    </a:cubicBezTo>
                    <a:lnTo>
                      <a:pt x="0" y="47743"/>
                    </a:lnTo>
                    <a:cubicBezTo>
                      <a:pt x="0" y="35080"/>
                      <a:pt x="5030" y="22937"/>
                      <a:pt x="13983" y="13983"/>
                    </a:cubicBezTo>
                    <a:cubicBezTo>
                      <a:pt x="22937" y="5030"/>
                      <a:pt x="35080" y="0"/>
                      <a:pt x="47743" y="0"/>
                    </a:cubicBezTo>
                    <a:close/>
                  </a:path>
                </a:pathLst>
              </a:custGeom>
              <a:gradFill rotWithShape="true">
                <a:gsLst>
                  <a:gs pos="0">
                    <a:srgbClr val="10A5FF">
                      <a:alpha val="100000"/>
                    </a:srgbClr>
                  </a:gs>
                  <a:gs pos="100000">
                    <a:srgbClr val="041E4E">
                      <a:alpha val="100000"/>
                    </a:srgbClr>
                  </a:gs>
                </a:gsLst>
                <a:lin ang="5400000"/>
              </a:gradFill>
            </p:spPr>
          </p:sp>
          <p:sp>
            <p:nvSpPr>
              <p:cNvPr name="TextBox 26" id="26"/>
              <p:cNvSpPr txBox="true"/>
              <p:nvPr/>
            </p:nvSpPr>
            <p:spPr>
              <a:xfrm>
                <a:off x="0" y="-28575"/>
                <a:ext cx="719876" cy="205249"/>
              </a:xfrm>
              <a:prstGeom prst="rect">
                <a:avLst/>
              </a:prstGeom>
            </p:spPr>
            <p:txBody>
              <a:bodyPr anchor="ctr" rtlCol="false" tIns="0" lIns="0" bIns="0" rIns="0"/>
              <a:lstStyle/>
              <a:p>
                <a:pPr algn="ctr">
                  <a:lnSpc>
                    <a:spcPts val="2600"/>
                  </a:lnSpc>
                </a:pPr>
                <a:r>
                  <a:rPr lang="en-US" sz="2000" spc="84">
                    <a:solidFill>
                      <a:srgbClr val="FFFFFF"/>
                    </a:solidFill>
                    <a:latin typeface="Roca One"/>
                    <a:ea typeface="Roca One"/>
                    <a:cs typeface="Roca One"/>
                    <a:sym typeface="Roca One"/>
                  </a:rPr>
                  <a:t>Futuristic </a:t>
                </a:r>
              </a:p>
              <a:p>
                <a:pPr algn="ctr" marL="0" indent="0" lvl="0">
                  <a:lnSpc>
                    <a:spcPts val="2600"/>
                  </a:lnSpc>
                  <a:spcBef>
                    <a:spcPct val="0"/>
                  </a:spcBef>
                </a:pPr>
                <a:r>
                  <a:rPr lang="en-US" sz="2000" spc="84">
                    <a:solidFill>
                      <a:srgbClr val="FFFFFF"/>
                    </a:solidFill>
                    <a:latin typeface="Roca One"/>
                    <a:ea typeface="Roca One"/>
                    <a:cs typeface="Roca One"/>
                    <a:sym typeface="Roca One"/>
                  </a:rPr>
                  <a:t>Vision</a:t>
                </a:r>
              </a:p>
            </p:txBody>
          </p:sp>
        </p:grpSp>
      </p:grpSp>
      <p:sp>
        <p:nvSpPr>
          <p:cNvPr name="TextBox 27" id="27"/>
          <p:cNvSpPr txBox="true"/>
          <p:nvPr/>
        </p:nvSpPr>
        <p:spPr>
          <a:xfrm rot="0">
            <a:off x="1028700" y="3446939"/>
            <a:ext cx="14061259" cy="931941"/>
          </a:xfrm>
          <a:prstGeom prst="rect">
            <a:avLst/>
          </a:prstGeom>
        </p:spPr>
        <p:txBody>
          <a:bodyPr anchor="t" rtlCol="false" tIns="0" lIns="0" bIns="0" rIns="0">
            <a:spAutoFit/>
          </a:bodyPr>
          <a:lstStyle/>
          <a:p>
            <a:pPr algn="l" marL="0" indent="0" lvl="0">
              <a:lnSpc>
                <a:spcPts val="3758"/>
              </a:lnSpc>
            </a:pPr>
            <a:r>
              <a:rPr lang="en-US" sz="2684" spc="112">
                <a:solidFill>
                  <a:srgbClr val="FFFFFF"/>
                </a:solidFill>
                <a:latin typeface="Roca One"/>
                <a:ea typeface="Roca One"/>
                <a:cs typeface="Roca One"/>
                <a:sym typeface="Roca One"/>
              </a:rPr>
              <a:t>DebAI is a futuristic AI assistant that intelligently extracts, understands, and interacts with text from images and PDFs through a secure offline interface.</a:t>
            </a:r>
          </a:p>
        </p:txBody>
      </p:sp>
      <p:grpSp>
        <p:nvGrpSpPr>
          <p:cNvPr name="Group 28" id="28"/>
          <p:cNvGrpSpPr/>
          <p:nvPr/>
        </p:nvGrpSpPr>
        <p:grpSpPr>
          <a:xfrm rot="0">
            <a:off x="1028700" y="429916"/>
            <a:ext cx="11436993" cy="2447825"/>
            <a:chOff x="0" y="0"/>
            <a:chExt cx="15249324" cy="3263767"/>
          </a:xfrm>
        </p:grpSpPr>
        <p:sp>
          <p:nvSpPr>
            <p:cNvPr name="TextBox 29" id="29"/>
            <p:cNvSpPr txBox="true"/>
            <p:nvPr/>
          </p:nvSpPr>
          <p:spPr>
            <a:xfrm rot="0">
              <a:off x="0" y="-76200"/>
              <a:ext cx="15249324" cy="3251200"/>
            </a:xfrm>
            <a:prstGeom prst="rect">
              <a:avLst/>
            </a:prstGeom>
          </p:spPr>
          <p:txBody>
            <a:bodyPr anchor="t" rtlCol="false" tIns="0" lIns="0" bIns="0" rIns="0">
              <a:spAutoFit/>
            </a:bodyPr>
            <a:lstStyle/>
            <a:p>
              <a:pPr algn="l">
                <a:lnSpc>
                  <a:spcPts val="9750"/>
                </a:lnSpc>
              </a:pPr>
              <a:r>
                <a:rPr lang="en-US" sz="7500" b="true">
                  <a:solidFill>
                    <a:srgbClr val="FFFFFF"/>
                  </a:solidFill>
                  <a:latin typeface="Roca One Heavy"/>
                  <a:ea typeface="Roca One Heavy"/>
                  <a:cs typeface="Roca One Heavy"/>
                  <a:sym typeface="Roca One Heavy"/>
                </a:rPr>
                <a:t>Overall What We Got To See In DebAI</a:t>
              </a:r>
            </a:p>
          </p:txBody>
        </p:sp>
        <p:sp>
          <p:nvSpPr>
            <p:cNvPr name="AutoShape 30" id="30"/>
            <p:cNvSpPr/>
            <p:nvPr/>
          </p:nvSpPr>
          <p:spPr>
            <a:xfrm>
              <a:off x="0" y="3238367"/>
              <a:ext cx="15249324" cy="0"/>
            </a:xfrm>
            <a:prstGeom prst="line">
              <a:avLst/>
            </a:prstGeom>
            <a:ln cap="flat" w="50800">
              <a:solidFill>
                <a:srgbClr val="FFFFFF"/>
              </a:solidFill>
              <a:prstDash val="solid"/>
              <a:headEnd type="diamond" len="lg" w="lg"/>
              <a:tailEnd type="diamond" len="lg" w="lg"/>
            </a:ln>
          </p:spPr>
        </p:sp>
      </p:grpSp>
      <p:grpSp>
        <p:nvGrpSpPr>
          <p:cNvPr name="Group 31" id="31"/>
          <p:cNvGrpSpPr/>
          <p:nvPr/>
        </p:nvGrpSpPr>
        <p:grpSpPr>
          <a:xfrm rot="0">
            <a:off x="1028700" y="5498026"/>
            <a:ext cx="3545220" cy="3760274"/>
            <a:chOff x="0" y="0"/>
            <a:chExt cx="4726959" cy="5013699"/>
          </a:xfrm>
        </p:grpSpPr>
        <p:grpSp>
          <p:nvGrpSpPr>
            <p:cNvPr name="Group 32" id="32"/>
            <p:cNvGrpSpPr>
              <a:grpSpLocks noChangeAspect="true"/>
            </p:cNvGrpSpPr>
            <p:nvPr/>
          </p:nvGrpSpPr>
          <p:grpSpPr>
            <a:xfrm rot="0">
              <a:off x="0" y="0"/>
              <a:ext cx="4726959" cy="4726959"/>
              <a:chOff x="0" y="0"/>
              <a:chExt cx="14840029" cy="14840029"/>
            </a:xfrm>
          </p:grpSpPr>
          <p:sp>
            <p:nvSpPr>
              <p:cNvPr name="Freeform 33" id="33"/>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gradFill rotWithShape="true">
                <a:gsLst>
                  <a:gs pos="0">
                    <a:srgbClr val="10A5FF">
                      <a:alpha val="100000"/>
                    </a:srgbClr>
                  </a:gs>
                  <a:gs pos="100000">
                    <a:srgbClr val="041E4E">
                      <a:alpha val="100000"/>
                    </a:srgbClr>
                  </a:gs>
                </a:gsLst>
                <a:lin ang="5400000"/>
              </a:gradFill>
            </p:spPr>
          </p:sp>
          <p:sp>
            <p:nvSpPr>
              <p:cNvPr name="Freeform 34" id="34"/>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gradFill rotWithShape="true">
                <a:gsLst>
                  <a:gs pos="0">
                    <a:srgbClr val="03295A">
                      <a:alpha val="62000"/>
                    </a:srgbClr>
                  </a:gs>
                  <a:gs pos="100000">
                    <a:srgbClr val="041468">
                      <a:alpha val="74500"/>
                    </a:srgbClr>
                  </a:gs>
                </a:gsLst>
                <a:lin ang="0"/>
              </a:gradFill>
            </p:spPr>
          </p:sp>
          <p:sp>
            <p:nvSpPr>
              <p:cNvPr name="Freeform 35" id="35"/>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223" t="0" r="223" b="0"/>
                </a:stretch>
              </a:blipFill>
            </p:spPr>
          </p:sp>
        </p:grpSp>
        <p:grpSp>
          <p:nvGrpSpPr>
            <p:cNvPr name="Group 36" id="36"/>
            <p:cNvGrpSpPr/>
            <p:nvPr/>
          </p:nvGrpSpPr>
          <p:grpSpPr>
            <a:xfrm rot="0">
              <a:off x="239005" y="4005488"/>
              <a:ext cx="4108046" cy="1008211"/>
              <a:chOff x="0" y="0"/>
              <a:chExt cx="719876" cy="176674"/>
            </a:xfrm>
          </p:grpSpPr>
          <p:sp>
            <p:nvSpPr>
              <p:cNvPr name="Freeform 37" id="37"/>
              <p:cNvSpPr/>
              <p:nvPr/>
            </p:nvSpPr>
            <p:spPr>
              <a:xfrm flipH="false" flipV="false" rot="0">
                <a:off x="0" y="0"/>
                <a:ext cx="719876" cy="176674"/>
              </a:xfrm>
              <a:custGeom>
                <a:avLst/>
                <a:gdLst/>
                <a:ahLst/>
                <a:cxnLst/>
                <a:rect r="r" b="b" t="t" l="l"/>
                <a:pathLst>
                  <a:path h="176674" w="719876">
                    <a:moveTo>
                      <a:pt x="47743" y="0"/>
                    </a:moveTo>
                    <a:lnTo>
                      <a:pt x="672134" y="0"/>
                    </a:lnTo>
                    <a:cubicBezTo>
                      <a:pt x="698501" y="0"/>
                      <a:pt x="719876" y="21375"/>
                      <a:pt x="719876" y="47743"/>
                    </a:cubicBezTo>
                    <a:lnTo>
                      <a:pt x="719876" y="128932"/>
                    </a:lnTo>
                    <a:cubicBezTo>
                      <a:pt x="719876" y="141594"/>
                      <a:pt x="714846" y="153738"/>
                      <a:pt x="705893" y="162691"/>
                    </a:cubicBezTo>
                    <a:cubicBezTo>
                      <a:pt x="696939" y="171644"/>
                      <a:pt x="684796" y="176674"/>
                      <a:pt x="672134" y="176674"/>
                    </a:cubicBezTo>
                    <a:lnTo>
                      <a:pt x="47743" y="176674"/>
                    </a:lnTo>
                    <a:cubicBezTo>
                      <a:pt x="21375" y="176674"/>
                      <a:pt x="0" y="155299"/>
                      <a:pt x="0" y="128932"/>
                    </a:cubicBezTo>
                    <a:lnTo>
                      <a:pt x="0" y="47743"/>
                    </a:lnTo>
                    <a:cubicBezTo>
                      <a:pt x="0" y="35080"/>
                      <a:pt x="5030" y="22937"/>
                      <a:pt x="13983" y="13983"/>
                    </a:cubicBezTo>
                    <a:cubicBezTo>
                      <a:pt x="22937" y="5030"/>
                      <a:pt x="35080" y="0"/>
                      <a:pt x="47743" y="0"/>
                    </a:cubicBezTo>
                    <a:close/>
                  </a:path>
                </a:pathLst>
              </a:custGeom>
              <a:gradFill rotWithShape="true">
                <a:gsLst>
                  <a:gs pos="0">
                    <a:srgbClr val="10A5FF">
                      <a:alpha val="100000"/>
                    </a:srgbClr>
                  </a:gs>
                  <a:gs pos="100000">
                    <a:srgbClr val="041E4E">
                      <a:alpha val="100000"/>
                    </a:srgbClr>
                  </a:gs>
                </a:gsLst>
                <a:lin ang="5400000"/>
              </a:gradFill>
            </p:spPr>
          </p:sp>
          <p:sp>
            <p:nvSpPr>
              <p:cNvPr name="TextBox 38" id="38"/>
              <p:cNvSpPr txBox="true"/>
              <p:nvPr/>
            </p:nvSpPr>
            <p:spPr>
              <a:xfrm>
                <a:off x="0" y="-28575"/>
                <a:ext cx="719876" cy="205249"/>
              </a:xfrm>
              <a:prstGeom prst="rect">
                <a:avLst/>
              </a:prstGeom>
            </p:spPr>
            <p:txBody>
              <a:bodyPr anchor="ctr" rtlCol="false" tIns="0" lIns="0" bIns="0" rIns="0"/>
              <a:lstStyle/>
              <a:p>
                <a:pPr algn="ctr" marL="0" indent="0" lvl="0">
                  <a:lnSpc>
                    <a:spcPts val="2600"/>
                  </a:lnSpc>
                  <a:spcBef>
                    <a:spcPct val="0"/>
                  </a:spcBef>
                </a:pPr>
                <a:r>
                  <a:rPr lang="en-US" sz="2000" spc="84">
                    <a:solidFill>
                      <a:srgbClr val="FFFFFF"/>
                    </a:solidFill>
                    <a:latin typeface="Roca One"/>
                    <a:ea typeface="Roca One"/>
                    <a:cs typeface="Roca One"/>
                    <a:sym typeface="Roca One"/>
                  </a:rPr>
                  <a:t>Innovative Future Enhancements</a:t>
                </a:r>
              </a:p>
            </p:txBody>
          </p:sp>
        </p:grpSp>
      </p:grpSp>
    </p:spTree>
  </p:cSld>
  <p:clrMapOvr>
    <a:masterClrMapping/>
  </p:clrMapOvr>
  <p:transition spd="slow">
    <p:cover dir="lu"/>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32806" t="-48141" r="0" b="-9259"/>
            </a:stretch>
          </a:blipFill>
        </p:spPr>
      </p:sp>
      <p:sp>
        <p:nvSpPr>
          <p:cNvPr name="TextBox 3" id="3"/>
          <p:cNvSpPr txBox="true"/>
          <p:nvPr/>
        </p:nvSpPr>
        <p:spPr>
          <a:xfrm rot="0">
            <a:off x="1594847" y="2502376"/>
            <a:ext cx="15098306" cy="471303"/>
          </a:xfrm>
          <a:prstGeom prst="rect">
            <a:avLst/>
          </a:prstGeom>
        </p:spPr>
        <p:txBody>
          <a:bodyPr anchor="t" rtlCol="false" tIns="0" lIns="0" bIns="0" rIns="0">
            <a:spAutoFit/>
          </a:bodyPr>
          <a:lstStyle/>
          <a:p>
            <a:pPr algn="ctr" marL="0" indent="0" lvl="0">
              <a:lnSpc>
                <a:spcPts val="3947"/>
              </a:lnSpc>
            </a:pPr>
          </a:p>
        </p:txBody>
      </p:sp>
      <p:grpSp>
        <p:nvGrpSpPr>
          <p:cNvPr name="Group 4" id="4"/>
          <p:cNvGrpSpPr/>
          <p:nvPr/>
        </p:nvGrpSpPr>
        <p:grpSpPr>
          <a:xfrm rot="0">
            <a:off x="3322185" y="4281169"/>
            <a:ext cx="3964537" cy="1916899"/>
            <a:chOff x="0" y="0"/>
            <a:chExt cx="5286050" cy="2555865"/>
          </a:xfrm>
        </p:grpSpPr>
        <p:grpSp>
          <p:nvGrpSpPr>
            <p:cNvPr name="Group 5" id="5"/>
            <p:cNvGrpSpPr/>
            <p:nvPr/>
          </p:nvGrpSpPr>
          <p:grpSpPr>
            <a:xfrm rot="0">
              <a:off x="0" y="0"/>
              <a:ext cx="5286050" cy="2555865"/>
              <a:chOff x="0" y="0"/>
              <a:chExt cx="1076227" cy="520368"/>
            </a:xfrm>
          </p:grpSpPr>
          <p:sp>
            <p:nvSpPr>
              <p:cNvPr name="Freeform 6" id="6"/>
              <p:cNvSpPr/>
              <p:nvPr/>
            </p:nvSpPr>
            <p:spPr>
              <a:xfrm flipH="false" flipV="false" rot="0">
                <a:off x="0" y="0"/>
                <a:ext cx="1076227" cy="520368"/>
              </a:xfrm>
              <a:custGeom>
                <a:avLst/>
                <a:gdLst/>
                <a:ahLst/>
                <a:cxnLst/>
                <a:rect r="r" b="b" t="t" l="l"/>
                <a:pathLst>
                  <a:path h="520368" w="1076227">
                    <a:moveTo>
                      <a:pt x="24512" y="0"/>
                    </a:moveTo>
                    <a:lnTo>
                      <a:pt x="1051715" y="0"/>
                    </a:lnTo>
                    <a:cubicBezTo>
                      <a:pt x="1065252" y="0"/>
                      <a:pt x="1076227" y="10975"/>
                      <a:pt x="1076227" y="24512"/>
                    </a:cubicBezTo>
                    <a:lnTo>
                      <a:pt x="1076227" y="495856"/>
                    </a:lnTo>
                    <a:cubicBezTo>
                      <a:pt x="1076227" y="509393"/>
                      <a:pt x="1065252" y="520368"/>
                      <a:pt x="1051715" y="520368"/>
                    </a:cubicBezTo>
                    <a:lnTo>
                      <a:pt x="24512" y="520368"/>
                    </a:lnTo>
                    <a:cubicBezTo>
                      <a:pt x="10975" y="520368"/>
                      <a:pt x="0" y="509393"/>
                      <a:pt x="0" y="495856"/>
                    </a:cubicBezTo>
                    <a:lnTo>
                      <a:pt x="0" y="24512"/>
                    </a:lnTo>
                    <a:cubicBezTo>
                      <a:pt x="0" y="10975"/>
                      <a:pt x="10975" y="0"/>
                      <a:pt x="24512"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5400000"/>
                </a:gradFill>
                <a:prstDash val="solid"/>
                <a:miter/>
              </a:ln>
            </p:spPr>
          </p:sp>
          <p:sp>
            <p:nvSpPr>
              <p:cNvPr name="TextBox 7" id="7"/>
              <p:cNvSpPr txBox="true"/>
              <p:nvPr/>
            </p:nvSpPr>
            <p:spPr>
              <a:xfrm>
                <a:off x="0" y="-47625"/>
                <a:ext cx="1076227" cy="567993"/>
              </a:xfrm>
              <a:prstGeom prst="rect">
                <a:avLst/>
              </a:prstGeom>
            </p:spPr>
            <p:txBody>
              <a:bodyPr anchor="ctr" rtlCol="false" tIns="50800" lIns="50800" bIns="50800" rIns="50800"/>
              <a:lstStyle/>
              <a:p>
                <a:pPr algn="ctr">
                  <a:lnSpc>
                    <a:spcPts val="2800"/>
                  </a:lnSpc>
                </a:pPr>
              </a:p>
            </p:txBody>
          </p:sp>
        </p:grpSp>
        <p:sp>
          <p:nvSpPr>
            <p:cNvPr name="TextBox 8" id="8"/>
            <p:cNvSpPr txBox="true"/>
            <p:nvPr/>
          </p:nvSpPr>
          <p:spPr>
            <a:xfrm rot="0">
              <a:off x="166216" y="99534"/>
              <a:ext cx="4971733" cy="2228513"/>
            </a:xfrm>
            <a:prstGeom prst="rect">
              <a:avLst/>
            </a:prstGeom>
          </p:spPr>
          <p:txBody>
            <a:bodyPr anchor="t" rtlCol="false" tIns="0" lIns="0" bIns="0" rIns="0">
              <a:spAutoFit/>
            </a:bodyPr>
            <a:lstStyle/>
            <a:p>
              <a:pPr algn="just">
                <a:lnSpc>
                  <a:spcPts val="2259"/>
                </a:lnSpc>
              </a:pPr>
              <a:r>
                <a:rPr lang="en-US" sz="1613" spc="67">
                  <a:solidFill>
                    <a:srgbClr val="FFFFFF"/>
                  </a:solidFill>
                  <a:latin typeface="Roca One"/>
                  <a:ea typeface="Roca One"/>
                  <a:cs typeface="Roca One"/>
                  <a:sym typeface="Roca One"/>
                </a:rPr>
                <a:t>Secure &amp; Offline Advantage -</a:t>
              </a:r>
            </a:p>
            <a:p>
              <a:pPr algn="just" marL="0" indent="0" lvl="0">
                <a:lnSpc>
                  <a:spcPts val="2259"/>
                </a:lnSpc>
              </a:pPr>
              <a:r>
                <a:rPr lang="en-US" sz="1613" spc="67">
                  <a:solidFill>
                    <a:srgbClr val="FFFFFF"/>
                  </a:solidFill>
                  <a:latin typeface="Roca One"/>
                  <a:ea typeface="Roca One"/>
                  <a:cs typeface="Roca One"/>
                  <a:sym typeface="Roca One"/>
                </a:rPr>
                <a:t>Since DebAI runs completely offline with local AI processing, it ensures data privacy and protects confidential content without depending on cloud servers.</a:t>
              </a:r>
            </a:p>
          </p:txBody>
        </p:sp>
      </p:grpSp>
      <p:grpSp>
        <p:nvGrpSpPr>
          <p:cNvPr name="Group 9" id="9"/>
          <p:cNvGrpSpPr/>
          <p:nvPr/>
        </p:nvGrpSpPr>
        <p:grpSpPr>
          <a:xfrm rot="0">
            <a:off x="3936080" y="7569182"/>
            <a:ext cx="4233989" cy="1916899"/>
            <a:chOff x="0" y="0"/>
            <a:chExt cx="5645318" cy="2555865"/>
          </a:xfrm>
        </p:grpSpPr>
        <p:grpSp>
          <p:nvGrpSpPr>
            <p:cNvPr name="Group 10" id="10"/>
            <p:cNvGrpSpPr/>
            <p:nvPr/>
          </p:nvGrpSpPr>
          <p:grpSpPr>
            <a:xfrm rot="0">
              <a:off x="0" y="0"/>
              <a:ext cx="5645318" cy="2555865"/>
              <a:chOff x="0" y="0"/>
              <a:chExt cx="1149373" cy="520368"/>
            </a:xfrm>
          </p:grpSpPr>
          <p:sp>
            <p:nvSpPr>
              <p:cNvPr name="Freeform 11" id="11"/>
              <p:cNvSpPr/>
              <p:nvPr/>
            </p:nvSpPr>
            <p:spPr>
              <a:xfrm flipH="false" flipV="false" rot="0">
                <a:off x="0" y="0"/>
                <a:ext cx="1149373" cy="520368"/>
              </a:xfrm>
              <a:custGeom>
                <a:avLst/>
                <a:gdLst/>
                <a:ahLst/>
                <a:cxnLst/>
                <a:rect r="r" b="b" t="t" l="l"/>
                <a:pathLst>
                  <a:path h="520368" w="1149373">
                    <a:moveTo>
                      <a:pt x="22952" y="0"/>
                    </a:moveTo>
                    <a:lnTo>
                      <a:pt x="1126421" y="0"/>
                    </a:lnTo>
                    <a:cubicBezTo>
                      <a:pt x="1139097" y="0"/>
                      <a:pt x="1149373" y="10276"/>
                      <a:pt x="1149373" y="22952"/>
                    </a:cubicBezTo>
                    <a:lnTo>
                      <a:pt x="1149373" y="497416"/>
                    </a:lnTo>
                    <a:cubicBezTo>
                      <a:pt x="1149373" y="503503"/>
                      <a:pt x="1146955" y="509341"/>
                      <a:pt x="1142651" y="513645"/>
                    </a:cubicBezTo>
                    <a:cubicBezTo>
                      <a:pt x="1138346" y="517950"/>
                      <a:pt x="1132508" y="520368"/>
                      <a:pt x="1126421" y="520368"/>
                    </a:cubicBezTo>
                    <a:lnTo>
                      <a:pt x="22952" y="520368"/>
                    </a:lnTo>
                    <a:cubicBezTo>
                      <a:pt x="16865" y="520368"/>
                      <a:pt x="11027" y="517950"/>
                      <a:pt x="6723" y="513645"/>
                    </a:cubicBezTo>
                    <a:cubicBezTo>
                      <a:pt x="2418" y="509341"/>
                      <a:pt x="0" y="503503"/>
                      <a:pt x="0" y="497416"/>
                    </a:cubicBezTo>
                    <a:lnTo>
                      <a:pt x="0" y="22952"/>
                    </a:lnTo>
                    <a:cubicBezTo>
                      <a:pt x="0" y="16865"/>
                      <a:pt x="2418" y="11027"/>
                      <a:pt x="6723" y="6723"/>
                    </a:cubicBezTo>
                    <a:cubicBezTo>
                      <a:pt x="11027" y="2418"/>
                      <a:pt x="16865" y="0"/>
                      <a:pt x="22952"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5400000"/>
                </a:gradFill>
                <a:prstDash val="solid"/>
                <a:miter/>
              </a:ln>
            </p:spPr>
          </p:sp>
          <p:sp>
            <p:nvSpPr>
              <p:cNvPr name="TextBox 12" id="12"/>
              <p:cNvSpPr txBox="true"/>
              <p:nvPr/>
            </p:nvSpPr>
            <p:spPr>
              <a:xfrm>
                <a:off x="0" y="-38100"/>
                <a:ext cx="1149373" cy="558468"/>
              </a:xfrm>
              <a:prstGeom prst="rect">
                <a:avLst/>
              </a:prstGeom>
            </p:spPr>
            <p:txBody>
              <a:bodyPr anchor="ctr" rtlCol="false" tIns="50800" lIns="50800" bIns="50800" rIns="50800"/>
              <a:lstStyle/>
              <a:p>
                <a:pPr algn="ctr">
                  <a:lnSpc>
                    <a:spcPts val="2799"/>
                  </a:lnSpc>
                </a:pPr>
              </a:p>
            </p:txBody>
          </p:sp>
        </p:grpSp>
        <p:sp>
          <p:nvSpPr>
            <p:cNvPr name="TextBox 13" id="13"/>
            <p:cNvSpPr txBox="true"/>
            <p:nvPr/>
          </p:nvSpPr>
          <p:spPr>
            <a:xfrm rot="0">
              <a:off x="190990" y="99534"/>
              <a:ext cx="5263339" cy="2228513"/>
            </a:xfrm>
            <a:prstGeom prst="rect">
              <a:avLst/>
            </a:prstGeom>
          </p:spPr>
          <p:txBody>
            <a:bodyPr anchor="t" rtlCol="false" tIns="0" lIns="0" bIns="0" rIns="0">
              <a:spAutoFit/>
            </a:bodyPr>
            <a:lstStyle/>
            <a:p>
              <a:pPr algn="just">
                <a:lnSpc>
                  <a:spcPts val="2259"/>
                </a:lnSpc>
              </a:pPr>
              <a:r>
                <a:rPr lang="en-US" sz="1613" spc="67">
                  <a:solidFill>
                    <a:srgbClr val="FFFFFF"/>
                  </a:solidFill>
                  <a:latin typeface="Roca One"/>
                  <a:ea typeface="Roca One"/>
                  <a:cs typeface="Roca One"/>
                  <a:sym typeface="Roca One"/>
                </a:rPr>
                <a:t>Document Accessibility -</a:t>
              </a:r>
            </a:p>
            <a:p>
              <a:pPr algn="just" marL="0" indent="0" lvl="0">
                <a:lnSpc>
                  <a:spcPts val="2259"/>
                </a:lnSpc>
              </a:pPr>
              <a:r>
                <a:rPr lang="en-US" sz="1613" spc="67">
                  <a:solidFill>
                    <a:srgbClr val="FFFFFF"/>
                  </a:solidFill>
                  <a:latin typeface="Roca One"/>
                  <a:ea typeface="Roca One"/>
                  <a:cs typeface="Roca One"/>
                  <a:sym typeface="Roca One"/>
                </a:rPr>
                <a:t>By converting images and scanned PDFs into editable and searchable text, DebAI makes information easier to access, analyze, and reuse across different applications.</a:t>
              </a:r>
            </a:p>
          </p:txBody>
        </p:sp>
      </p:grpSp>
      <p:grpSp>
        <p:nvGrpSpPr>
          <p:cNvPr name="Group 14" id="14"/>
          <p:cNvGrpSpPr/>
          <p:nvPr/>
        </p:nvGrpSpPr>
        <p:grpSpPr>
          <a:xfrm rot="0">
            <a:off x="10700364" y="4281169"/>
            <a:ext cx="4164733" cy="1958602"/>
            <a:chOff x="0" y="0"/>
            <a:chExt cx="5552977" cy="2611469"/>
          </a:xfrm>
        </p:grpSpPr>
        <p:grpSp>
          <p:nvGrpSpPr>
            <p:cNvPr name="Group 15" id="15"/>
            <p:cNvGrpSpPr/>
            <p:nvPr/>
          </p:nvGrpSpPr>
          <p:grpSpPr>
            <a:xfrm rot="0">
              <a:off x="0" y="0"/>
              <a:ext cx="5552977" cy="2611469"/>
              <a:chOff x="0" y="0"/>
              <a:chExt cx="1106500" cy="520368"/>
            </a:xfrm>
          </p:grpSpPr>
          <p:sp>
            <p:nvSpPr>
              <p:cNvPr name="Freeform 16" id="16"/>
              <p:cNvSpPr/>
              <p:nvPr/>
            </p:nvSpPr>
            <p:spPr>
              <a:xfrm flipH="false" flipV="false" rot="0">
                <a:off x="0" y="0"/>
                <a:ext cx="1106500" cy="520368"/>
              </a:xfrm>
              <a:custGeom>
                <a:avLst/>
                <a:gdLst/>
                <a:ahLst/>
                <a:cxnLst/>
                <a:rect r="r" b="b" t="t" l="l"/>
                <a:pathLst>
                  <a:path h="520368" w="1106500">
                    <a:moveTo>
                      <a:pt x="23842" y="0"/>
                    </a:moveTo>
                    <a:lnTo>
                      <a:pt x="1082659" y="0"/>
                    </a:lnTo>
                    <a:cubicBezTo>
                      <a:pt x="1095826" y="0"/>
                      <a:pt x="1106500" y="10674"/>
                      <a:pt x="1106500" y="23842"/>
                    </a:cubicBezTo>
                    <a:lnTo>
                      <a:pt x="1106500" y="496526"/>
                    </a:lnTo>
                    <a:cubicBezTo>
                      <a:pt x="1106500" y="509694"/>
                      <a:pt x="1095826" y="520368"/>
                      <a:pt x="1082659" y="520368"/>
                    </a:cubicBezTo>
                    <a:lnTo>
                      <a:pt x="23842" y="520368"/>
                    </a:lnTo>
                    <a:cubicBezTo>
                      <a:pt x="10674" y="520368"/>
                      <a:pt x="0" y="509694"/>
                      <a:pt x="0" y="496526"/>
                    </a:cubicBezTo>
                    <a:lnTo>
                      <a:pt x="0" y="23842"/>
                    </a:lnTo>
                    <a:cubicBezTo>
                      <a:pt x="0" y="10674"/>
                      <a:pt x="10674" y="0"/>
                      <a:pt x="23842"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5400000"/>
                </a:gradFill>
                <a:prstDash val="solid"/>
                <a:miter/>
              </a:ln>
            </p:spPr>
          </p:sp>
          <p:sp>
            <p:nvSpPr>
              <p:cNvPr name="TextBox 17" id="17"/>
              <p:cNvSpPr txBox="true"/>
              <p:nvPr/>
            </p:nvSpPr>
            <p:spPr>
              <a:xfrm>
                <a:off x="0" y="-47625"/>
                <a:ext cx="1106500" cy="567993"/>
              </a:xfrm>
              <a:prstGeom prst="rect">
                <a:avLst/>
              </a:prstGeom>
            </p:spPr>
            <p:txBody>
              <a:bodyPr anchor="ctr" rtlCol="false" tIns="50800" lIns="50800" bIns="50800" rIns="50800"/>
              <a:lstStyle/>
              <a:p>
                <a:pPr algn="ctr">
                  <a:lnSpc>
                    <a:spcPts val="2800"/>
                  </a:lnSpc>
                </a:pPr>
              </a:p>
            </p:txBody>
          </p:sp>
        </p:grpSp>
        <p:sp>
          <p:nvSpPr>
            <p:cNvPr name="TextBox 18" id="18"/>
            <p:cNvSpPr txBox="true"/>
            <p:nvPr/>
          </p:nvSpPr>
          <p:spPr>
            <a:xfrm rot="0">
              <a:off x="219342" y="153260"/>
              <a:ext cx="5114294" cy="2276374"/>
            </a:xfrm>
            <a:prstGeom prst="rect">
              <a:avLst/>
            </a:prstGeom>
          </p:spPr>
          <p:txBody>
            <a:bodyPr anchor="t" rtlCol="false" tIns="0" lIns="0" bIns="0" rIns="0">
              <a:spAutoFit/>
            </a:bodyPr>
            <a:lstStyle/>
            <a:p>
              <a:pPr algn="just">
                <a:lnSpc>
                  <a:spcPts val="2308"/>
                </a:lnSpc>
              </a:pPr>
              <a:r>
                <a:rPr lang="en-US" sz="1648" spc="69">
                  <a:solidFill>
                    <a:srgbClr val="FFFFFF"/>
                  </a:solidFill>
                  <a:latin typeface="Roca One"/>
                  <a:ea typeface="Roca One"/>
                  <a:cs typeface="Roca One"/>
                  <a:sym typeface="Roca One"/>
                </a:rPr>
                <a:t>Improved Interaction &amp; Usability -</a:t>
              </a:r>
            </a:p>
            <a:p>
              <a:pPr algn="just" marL="0" indent="0" lvl="0">
                <a:lnSpc>
                  <a:spcPts val="2308"/>
                </a:lnSpc>
              </a:pPr>
              <a:r>
                <a:rPr lang="en-US" sz="1648" spc="69">
                  <a:solidFill>
                    <a:srgbClr val="FFFFFF"/>
                  </a:solidFill>
                  <a:latin typeface="Roca One"/>
                  <a:ea typeface="Roca One"/>
                  <a:cs typeface="Roca One"/>
                  <a:sym typeface="Roca One"/>
                </a:rPr>
                <a:t>C</a:t>
              </a:r>
              <a:r>
                <a:rPr lang="en-US" sz="1648" spc="69">
                  <a:solidFill>
                    <a:srgbClr val="FFFFFF"/>
                  </a:solidFill>
                  <a:latin typeface="Roca One"/>
                  <a:ea typeface="Roca One"/>
                  <a:cs typeface="Roca One"/>
                  <a:sym typeface="Roca One"/>
                </a:rPr>
                <a:t>yberpunk-themed interface and real-time streaming responses deliver a smooth and engaging user experience, making the tool enjoyable as well as efficient.</a:t>
              </a:r>
            </a:p>
          </p:txBody>
        </p:sp>
      </p:grpSp>
      <p:grpSp>
        <p:nvGrpSpPr>
          <p:cNvPr name="Group 19" id="19"/>
          <p:cNvGrpSpPr/>
          <p:nvPr/>
        </p:nvGrpSpPr>
        <p:grpSpPr>
          <a:xfrm rot="0">
            <a:off x="11848498" y="7353745"/>
            <a:ext cx="4878345" cy="2181997"/>
            <a:chOff x="0" y="0"/>
            <a:chExt cx="6504461" cy="2909329"/>
          </a:xfrm>
        </p:grpSpPr>
        <p:grpSp>
          <p:nvGrpSpPr>
            <p:cNvPr name="Group 20" id="20"/>
            <p:cNvGrpSpPr/>
            <p:nvPr/>
          </p:nvGrpSpPr>
          <p:grpSpPr>
            <a:xfrm rot="0">
              <a:off x="0" y="0"/>
              <a:ext cx="6504461" cy="2909329"/>
              <a:chOff x="0" y="0"/>
              <a:chExt cx="1187363" cy="531086"/>
            </a:xfrm>
          </p:grpSpPr>
          <p:sp>
            <p:nvSpPr>
              <p:cNvPr name="Freeform 21" id="21"/>
              <p:cNvSpPr/>
              <p:nvPr/>
            </p:nvSpPr>
            <p:spPr>
              <a:xfrm flipH="false" flipV="false" rot="0">
                <a:off x="0" y="0"/>
                <a:ext cx="1187363" cy="531086"/>
              </a:xfrm>
              <a:custGeom>
                <a:avLst/>
                <a:gdLst/>
                <a:ahLst/>
                <a:cxnLst/>
                <a:rect r="r" b="b" t="t" l="l"/>
                <a:pathLst>
                  <a:path h="531086" w="1187363">
                    <a:moveTo>
                      <a:pt x="22218" y="0"/>
                    </a:moveTo>
                    <a:lnTo>
                      <a:pt x="1165145" y="0"/>
                    </a:lnTo>
                    <a:cubicBezTo>
                      <a:pt x="1177416" y="0"/>
                      <a:pt x="1187363" y="9947"/>
                      <a:pt x="1187363" y="22218"/>
                    </a:cubicBezTo>
                    <a:lnTo>
                      <a:pt x="1187363" y="508868"/>
                    </a:lnTo>
                    <a:cubicBezTo>
                      <a:pt x="1187363" y="514761"/>
                      <a:pt x="1185022" y="520412"/>
                      <a:pt x="1180855" y="524579"/>
                    </a:cubicBezTo>
                    <a:cubicBezTo>
                      <a:pt x="1176689" y="528745"/>
                      <a:pt x="1171038" y="531086"/>
                      <a:pt x="1165145" y="531086"/>
                    </a:cubicBezTo>
                    <a:lnTo>
                      <a:pt x="22218" y="531086"/>
                    </a:lnTo>
                    <a:cubicBezTo>
                      <a:pt x="9947" y="531086"/>
                      <a:pt x="0" y="521139"/>
                      <a:pt x="0" y="508868"/>
                    </a:cubicBezTo>
                    <a:lnTo>
                      <a:pt x="0" y="22218"/>
                    </a:lnTo>
                    <a:cubicBezTo>
                      <a:pt x="0" y="16325"/>
                      <a:pt x="2341" y="10674"/>
                      <a:pt x="6507" y="6507"/>
                    </a:cubicBezTo>
                    <a:cubicBezTo>
                      <a:pt x="10674" y="2341"/>
                      <a:pt x="16325" y="0"/>
                      <a:pt x="22218"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5400000"/>
                </a:gradFill>
                <a:prstDash val="solid"/>
                <a:miter/>
              </a:ln>
            </p:spPr>
          </p:sp>
          <p:sp>
            <p:nvSpPr>
              <p:cNvPr name="TextBox 22" id="22"/>
              <p:cNvSpPr txBox="true"/>
              <p:nvPr/>
            </p:nvSpPr>
            <p:spPr>
              <a:xfrm>
                <a:off x="0" y="-47625"/>
                <a:ext cx="1187363" cy="578711"/>
              </a:xfrm>
              <a:prstGeom prst="rect">
                <a:avLst/>
              </a:prstGeom>
            </p:spPr>
            <p:txBody>
              <a:bodyPr anchor="ctr" rtlCol="false" tIns="50800" lIns="50800" bIns="50800" rIns="50800"/>
              <a:lstStyle/>
              <a:p>
                <a:pPr algn="ctr">
                  <a:lnSpc>
                    <a:spcPts val="2800"/>
                  </a:lnSpc>
                </a:pPr>
              </a:p>
            </p:txBody>
          </p:sp>
        </p:grpSp>
        <p:sp>
          <p:nvSpPr>
            <p:cNvPr name="TextBox 23" id="23"/>
            <p:cNvSpPr txBox="true"/>
            <p:nvPr/>
          </p:nvSpPr>
          <p:spPr>
            <a:xfrm rot="0">
              <a:off x="299289" y="150862"/>
              <a:ext cx="5825575" cy="2501265"/>
            </a:xfrm>
            <a:prstGeom prst="rect">
              <a:avLst/>
            </a:prstGeom>
          </p:spPr>
          <p:txBody>
            <a:bodyPr anchor="t" rtlCol="false" tIns="0" lIns="0" bIns="0" rIns="0">
              <a:spAutoFit/>
            </a:bodyPr>
            <a:lstStyle/>
            <a:p>
              <a:pPr algn="just">
                <a:lnSpc>
                  <a:spcPts val="2520"/>
                </a:lnSpc>
              </a:pPr>
              <a:r>
                <a:rPr lang="en-US" sz="1800" spc="75">
                  <a:solidFill>
                    <a:srgbClr val="FFFFFF"/>
                  </a:solidFill>
                  <a:latin typeface="Roca One"/>
                  <a:ea typeface="Roca One"/>
                  <a:cs typeface="Roca One"/>
                  <a:sym typeface="Roca One"/>
                </a:rPr>
                <a:t>Vision for Future Development -</a:t>
              </a:r>
            </a:p>
            <a:p>
              <a:pPr algn="just" marL="0" indent="0" lvl="0">
                <a:lnSpc>
                  <a:spcPts val="2520"/>
                </a:lnSpc>
              </a:pPr>
              <a:r>
                <a:rPr lang="en-US" sz="1800" spc="75">
                  <a:solidFill>
                    <a:srgbClr val="FFFFFF"/>
                  </a:solidFill>
                  <a:latin typeface="Roca One"/>
                  <a:ea typeface="Roca One"/>
                  <a:cs typeface="Roca One"/>
                  <a:sym typeface="Roca One"/>
                </a:rPr>
                <a:t>The system aims to grow further with features like multilingual OCR, voice-based interaction, automatic summarization, model switching, and expanded AI capabilities.</a:t>
              </a:r>
            </a:p>
          </p:txBody>
        </p:sp>
      </p:grpSp>
      <p:grpSp>
        <p:nvGrpSpPr>
          <p:cNvPr name="Group 24" id="24"/>
          <p:cNvGrpSpPr/>
          <p:nvPr/>
        </p:nvGrpSpPr>
        <p:grpSpPr>
          <a:xfrm rot="0">
            <a:off x="1561156" y="4362618"/>
            <a:ext cx="1476315" cy="1476315"/>
            <a:chOff x="0" y="0"/>
            <a:chExt cx="1968421" cy="1968421"/>
          </a:xfrm>
        </p:grpSpPr>
        <p:grpSp>
          <p:nvGrpSpPr>
            <p:cNvPr name="Group 25" id="25"/>
            <p:cNvGrpSpPr/>
            <p:nvPr/>
          </p:nvGrpSpPr>
          <p:grpSpPr>
            <a:xfrm rot="0">
              <a:off x="0" y="0"/>
              <a:ext cx="1968421" cy="196842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0A5FF">
                      <a:alpha val="100000"/>
                    </a:srgbClr>
                  </a:gs>
                  <a:gs pos="100000">
                    <a:srgbClr val="041E4E">
                      <a:alpha val="100000"/>
                    </a:srgbClr>
                  </a:gs>
                </a:gsLst>
                <a:lin ang="5400000"/>
              </a:gradFill>
            </p:spPr>
          </p:sp>
          <p:sp>
            <p:nvSpPr>
              <p:cNvPr name="TextBox 27" id="27"/>
              <p:cNvSpPr txBox="true"/>
              <p:nvPr/>
            </p:nvSpPr>
            <p:spPr>
              <a:xfrm>
                <a:off x="76200" y="47625"/>
                <a:ext cx="660400" cy="688975"/>
              </a:xfrm>
              <a:prstGeom prst="rect">
                <a:avLst/>
              </a:prstGeom>
            </p:spPr>
            <p:txBody>
              <a:bodyPr anchor="ctr" rtlCol="false" tIns="0" lIns="0" bIns="0" rIns="0"/>
              <a:lstStyle/>
              <a:p>
                <a:pPr algn="ctr" marL="0" indent="0" lvl="0">
                  <a:lnSpc>
                    <a:spcPts val="2600"/>
                  </a:lnSpc>
                  <a:spcBef>
                    <a:spcPct val="0"/>
                  </a:spcBef>
                </a:pPr>
              </a:p>
            </p:txBody>
          </p:sp>
        </p:grpSp>
        <p:sp>
          <p:nvSpPr>
            <p:cNvPr name="Freeform 28" id="28"/>
            <p:cNvSpPr/>
            <p:nvPr/>
          </p:nvSpPr>
          <p:spPr>
            <a:xfrm flipH="false" flipV="false" rot="0">
              <a:off x="510005" y="390768"/>
              <a:ext cx="879458" cy="1212285"/>
            </a:xfrm>
            <a:custGeom>
              <a:avLst/>
              <a:gdLst/>
              <a:ahLst/>
              <a:cxnLst/>
              <a:rect r="r" b="b" t="t" l="l"/>
              <a:pathLst>
                <a:path h="1212285" w="879458">
                  <a:moveTo>
                    <a:pt x="0" y="0"/>
                  </a:moveTo>
                  <a:lnTo>
                    <a:pt x="879457" y="0"/>
                  </a:lnTo>
                  <a:lnTo>
                    <a:pt x="879457" y="1212285"/>
                  </a:lnTo>
                  <a:lnTo>
                    <a:pt x="0" y="12122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29" id="29"/>
          <p:cNvGrpSpPr/>
          <p:nvPr/>
        </p:nvGrpSpPr>
        <p:grpSpPr>
          <a:xfrm rot="0">
            <a:off x="10038808" y="7789473"/>
            <a:ext cx="1476315" cy="1476315"/>
            <a:chOff x="0" y="0"/>
            <a:chExt cx="1968421" cy="1968421"/>
          </a:xfrm>
        </p:grpSpPr>
        <p:grpSp>
          <p:nvGrpSpPr>
            <p:cNvPr name="Group 30" id="30"/>
            <p:cNvGrpSpPr/>
            <p:nvPr/>
          </p:nvGrpSpPr>
          <p:grpSpPr>
            <a:xfrm rot="0">
              <a:off x="0" y="0"/>
              <a:ext cx="1968421" cy="1968421"/>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0A5FF">
                      <a:alpha val="100000"/>
                    </a:srgbClr>
                  </a:gs>
                  <a:gs pos="100000">
                    <a:srgbClr val="041E4E">
                      <a:alpha val="100000"/>
                    </a:srgbClr>
                  </a:gs>
                </a:gsLst>
                <a:lin ang="5400000"/>
              </a:gradFill>
            </p:spPr>
          </p:sp>
          <p:sp>
            <p:nvSpPr>
              <p:cNvPr name="TextBox 32" id="32"/>
              <p:cNvSpPr txBox="true"/>
              <p:nvPr/>
            </p:nvSpPr>
            <p:spPr>
              <a:xfrm>
                <a:off x="76200" y="47625"/>
                <a:ext cx="660400" cy="688975"/>
              </a:xfrm>
              <a:prstGeom prst="rect">
                <a:avLst/>
              </a:prstGeom>
            </p:spPr>
            <p:txBody>
              <a:bodyPr anchor="ctr" rtlCol="false" tIns="0" lIns="0" bIns="0" rIns="0"/>
              <a:lstStyle/>
              <a:p>
                <a:pPr algn="ctr" marL="0" indent="0" lvl="0">
                  <a:lnSpc>
                    <a:spcPts val="2600"/>
                  </a:lnSpc>
                  <a:spcBef>
                    <a:spcPct val="0"/>
                  </a:spcBef>
                </a:pPr>
              </a:p>
            </p:txBody>
          </p:sp>
        </p:grpSp>
        <p:sp>
          <p:nvSpPr>
            <p:cNvPr name="Freeform 33" id="33"/>
            <p:cNvSpPr/>
            <p:nvPr/>
          </p:nvSpPr>
          <p:spPr>
            <a:xfrm flipH="false" flipV="false" rot="0">
              <a:off x="363939" y="346299"/>
              <a:ext cx="1240542" cy="1240542"/>
            </a:xfrm>
            <a:custGeom>
              <a:avLst/>
              <a:gdLst/>
              <a:ahLst/>
              <a:cxnLst/>
              <a:rect r="r" b="b" t="t" l="l"/>
              <a:pathLst>
                <a:path h="1240542" w="1240542">
                  <a:moveTo>
                    <a:pt x="0" y="0"/>
                  </a:moveTo>
                  <a:lnTo>
                    <a:pt x="1240542" y="0"/>
                  </a:lnTo>
                  <a:lnTo>
                    <a:pt x="1240542" y="1240542"/>
                  </a:lnTo>
                  <a:lnTo>
                    <a:pt x="0" y="12405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grpSp>
      <p:grpSp>
        <p:nvGrpSpPr>
          <p:cNvPr name="Group 34" id="34"/>
          <p:cNvGrpSpPr/>
          <p:nvPr/>
        </p:nvGrpSpPr>
        <p:grpSpPr>
          <a:xfrm rot="0">
            <a:off x="2127303" y="7789473"/>
            <a:ext cx="1476315" cy="1476315"/>
            <a:chOff x="0" y="0"/>
            <a:chExt cx="1968421" cy="1968421"/>
          </a:xfrm>
        </p:grpSpPr>
        <p:grpSp>
          <p:nvGrpSpPr>
            <p:cNvPr name="Group 35" id="35"/>
            <p:cNvGrpSpPr/>
            <p:nvPr/>
          </p:nvGrpSpPr>
          <p:grpSpPr>
            <a:xfrm rot="0">
              <a:off x="0" y="0"/>
              <a:ext cx="1968421" cy="1968421"/>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0A5FF">
                      <a:alpha val="100000"/>
                    </a:srgbClr>
                  </a:gs>
                  <a:gs pos="100000">
                    <a:srgbClr val="041E4E">
                      <a:alpha val="100000"/>
                    </a:srgbClr>
                  </a:gs>
                </a:gsLst>
                <a:lin ang="5400000"/>
              </a:gradFill>
            </p:spPr>
          </p:sp>
          <p:sp>
            <p:nvSpPr>
              <p:cNvPr name="TextBox 37" id="37"/>
              <p:cNvSpPr txBox="true"/>
              <p:nvPr/>
            </p:nvSpPr>
            <p:spPr>
              <a:xfrm>
                <a:off x="76200" y="47625"/>
                <a:ext cx="660400" cy="688975"/>
              </a:xfrm>
              <a:prstGeom prst="rect">
                <a:avLst/>
              </a:prstGeom>
            </p:spPr>
            <p:txBody>
              <a:bodyPr anchor="ctr" rtlCol="false" tIns="0" lIns="0" bIns="0" rIns="0"/>
              <a:lstStyle/>
              <a:p>
                <a:pPr algn="ctr" marL="0" indent="0" lvl="0">
                  <a:lnSpc>
                    <a:spcPts val="2600"/>
                  </a:lnSpc>
                  <a:spcBef>
                    <a:spcPct val="0"/>
                  </a:spcBef>
                </a:pPr>
              </a:p>
            </p:txBody>
          </p:sp>
        </p:grpSp>
        <p:sp>
          <p:nvSpPr>
            <p:cNvPr name="Freeform 38" id="38"/>
            <p:cNvSpPr/>
            <p:nvPr/>
          </p:nvSpPr>
          <p:spPr>
            <a:xfrm flipH="false" flipV="false" rot="0">
              <a:off x="402699" y="424677"/>
              <a:ext cx="1144466" cy="1144466"/>
            </a:xfrm>
            <a:custGeom>
              <a:avLst/>
              <a:gdLst/>
              <a:ahLst/>
              <a:cxnLst/>
              <a:rect r="r" b="b" t="t" l="l"/>
              <a:pathLst>
                <a:path h="1144466" w="1144466">
                  <a:moveTo>
                    <a:pt x="0" y="0"/>
                  </a:moveTo>
                  <a:lnTo>
                    <a:pt x="1144467" y="0"/>
                  </a:lnTo>
                  <a:lnTo>
                    <a:pt x="1144467" y="1144467"/>
                  </a:lnTo>
                  <a:lnTo>
                    <a:pt x="0" y="11444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grpSp>
      <p:grpSp>
        <p:nvGrpSpPr>
          <p:cNvPr name="Group 39" id="39"/>
          <p:cNvGrpSpPr/>
          <p:nvPr/>
        </p:nvGrpSpPr>
        <p:grpSpPr>
          <a:xfrm rot="0">
            <a:off x="8938298" y="4362618"/>
            <a:ext cx="1476315" cy="1476315"/>
            <a:chOff x="0" y="0"/>
            <a:chExt cx="1968421" cy="1968421"/>
          </a:xfrm>
        </p:grpSpPr>
        <p:grpSp>
          <p:nvGrpSpPr>
            <p:cNvPr name="Group 40" id="40"/>
            <p:cNvGrpSpPr/>
            <p:nvPr/>
          </p:nvGrpSpPr>
          <p:grpSpPr>
            <a:xfrm rot="0">
              <a:off x="0" y="0"/>
              <a:ext cx="1968421" cy="1968421"/>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0A5FF">
                      <a:alpha val="100000"/>
                    </a:srgbClr>
                  </a:gs>
                  <a:gs pos="100000">
                    <a:srgbClr val="041E4E">
                      <a:alpha val="100000"/>
                    </a:srgbClr>
                  </a:gs>
                </a:gsLst>
                <a:lin ang="5400000"/>
              </a:gradFill>
            </p:spPr>
          </p:sp>
          <p:sp>
            <p:nvSpPr>
              <p:cNvPr name="TextBox 42" id="42"/>
              <p:cNvSpPr txBox="true"/>
              <p:nvPr/>
            </p:nvSpPr>
            <p:spPr>
              <a:xfrm>
                <a:off x="76200" y="47625"/>
                <a:ext cx="660400" cy="688975"/>
              </a:xfrm>
              <a:prstGeom prst="rect">
                <a:avLst/>
              </a:prstGeom>
            </p:spPr>
            <p:txBody>
              <a:bodyPr anchor="ctr" rtlCol="false" tIns="0" lIns="0" bIns="0" rIns="0"/>
              <a:lstStyle/>
              <a:p>
                <a:pPr algn="ctr" marL="0" indent="0" lvl="0">
                  <a:lnSpc>
                    <a:spcPts val="2600"/>
                  </a:lnSpc>
                  <a:spcBef>
                    <a:spcPct val="0"/>
                  </a:spcBef>
                </a:pPr>
              </a:p>
            </p:txBody>
          </p:sp>
        </p:grpSp>
        <p:sp>
          <p:nvSpPr>
            <p:cNvPr name="Freeform 43" id="43"/>
            <p:cNvSpPr/>
            <p:nvPr/>
          </p:nvSpPr>
          <p:spPr>
            <a:xfrm flipH="false" flipV="false" rot="0">
              <a:off x="357755" y="321897"/>
              <a:ext cx="1289346" cy="1289346"/>
            </a:xfrm>
            <a:custGeom>
              <a:avLst/>
              <a:gdLst/>
              <a:ahLst/>
              <a:cxnLst/>
              <a:rect r="r" b="b" t="t" l="l"/>
              <a:pathLst>
                <a:path h="1289346" w="1289346">
                  <a:moveTo>
                    <a:pt x="0" y="0"/>
                  </a:moveTo>
                  <a:lnTo>
                    <a:pt x="1289346" y="0"/>
                  </a:lnTo>
                  <a:lnTo>
                    <a:pt x="1289346" y="1289346"/>
                  </a:lnTo>
                  <a:lnTo>
                    <a:pt x="0" y="12893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grpSp>
      <p:sp>
        <p:nvSpPr>
          <p:cNvPr name="TextBox 44" id="44"/>
          <p:cNvSpPr txBox="true"/>
          <p:nvPr/>
        </p:nvSpPr>
        <p:spPr>
          <a:xfrm rot="0">
            <a:off x="1389145" y="2742791"/>
            <a:ext cx="15098306" cy="806450"/>
          </a:xfrm>
          <a:prstGeom prst="rect">
            <a:avLst/>
          </a:prstGeom>
        </p:spPr>
        <p:txBody>
          <a:bodyPr anchor="t" rtlCol="false" tIns="0" lIns="0" bIns="0" rIns="0">
            <a:spAutoFit/>
          </a:bodyPr>
          <a:lstStyle/>
          <a:p>
            <a:pPr algn="ctr">
              <a:lnSpc>
                <a:spcPts val="3249"/>
              </a:lnSpc>
              <a:spcBef>
                <a:spcPct val="0"/>
              </a:spcBef>
            </a:pPr>
            <a:r>
              <a:rPr lang="en-US" sz="2499" spc="104">
                <a:solidFill>
                  <a:srgbClr val="FFFFFF"/>
                </a:solidFill>
                <a:latin typeface="Roca One"/>
                <a:ea typeface="Roca One"/>
                <a:cs typeface="Roca One"/>
                <a:sym typeface="Roca One"/>
              </a:rPr>
              <a:t>DebAI successfully merges OCR technology with conversational AI to create a powerful, user-friendly tool for smarter document understanding.</a:t>
            </a:r>
          </a:p>
        </p:txBody>
      </p:sp>
      <p:grpSp>
        <p:nvGrpSpPr>
          <p:cNvPr name="Group 45" id="45"/>
          <p:cNvGrpSpPr/>
          <p:nvPr/>
        </p:nvGrpSpPr>
        <p:grpSpPr>
          <a:xfrm rot="0">
            <a:off x="2655040" y="920143"/>
            <a:ext cx="13702697" cy="915484"/>
            <a:chOff x="0" y="0"/>
            <a:chExt cx="18270263" cy="1220645"/>
          </a:xfrm>
        </p:grpSpPr>
        <p:sp>
          <p:nvSpPr>
            <p:cNvPr name="TextBox 46" id="46"/>
            <p:cNvSpPr txBox="true"/>
            <p:nvPr/>
          </p:nvSpPr>
          <p:spPr>
            <a:xfrm rot="0">
              <a:off x="0" y="-47625"/>
              <a:ext cx="18270263" cy="1242870"/>
            </a:xfrm>
            <a:prstGeom prst="rect">
              <a:avLst/>
            </a:prstGeom>
          </p:spPr>
          <p:txBody>
            <a:bodyPr anchor="t" rtlCol="false" tIns="0" lIns="0" bIns="0" rIns="0">
              <a:spAutoFit/>
            </a:bodyPr>
            <a:lstStyle/>
            <a:p>
              <a:pPr algn="ctr">
                <a:lnSpc>
                  <a:spcPts val="7689"/>
                </a:lnSpc>
              </a:pPr>
              <a:r>
                <a:rPr lang="en-US" sz="5914" b="true">
                  <a:solidFill>
                    <a:srgbClr val="FFFFFF"/>
                  </a:solidFill>
                  <a:latin typeface="Roca One Heavy"/>
                  <a:ea typeface="Roca One Heavy"/>
                  <a:cs typeface="Roca One Heavy"/>
                  <a:sym typeface="Roca One Heavy"/>
                </a:rPr>
                <a:t>Conclusion &amp; Future Enhancements</a:t>
              </a:r>
            </a:p>
          </p:txBody>
        </p:sp>
        <p:sp>
          <p:nvSpPr>
            <p:cNvPr name="AutoShape 47" id="47"/>
            <p:cNvSpPr/>
            <p:nvPr/>
          </p:nvSpPr>
          <p:spPr>
            <a:xfrm>
              <a:off x="280561" y="1195245"/>
              <a:ext cx="17707462" cy="0"/>
            </a:xfrm>
            <a:prstGeom prst="line">
              <a:avLst/>
            </a:prstGeom>
            <a:ln cap="flat" w="50800">
              <a:solidFill>
                <a:srgbClr val="FFFFFF"/>
              </a:solidFill>
              <a:prstDash val="solid"/>
              <a:headEnd type="diamond" len="lg" w="lg"/>
              <a:tailEnd type="diamond" len="lg" w="lg"/>
            </a:ln>
          </p:spPr>
        </p:sp>
      </p:grpSp>
    </p:spTree>
  </p:cSld>
  <p:clrMapOvr>
    <a:masterClrMapping/>
  </p:clrMapOvr>
  <p:transition spd="slow">
    <p:cover dir="lu"/>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grpSp>
        <p:nvGrpSpPr>
          <p:cNvPr name="Group 3" id="3"/>
          <p:cNvGrpSpPr>
            <a:grpSpLocks noChangeAspect="true"/>
          </p:cNvGrpSpPr>
          <p:nvPr/>
        </p:nvGrpSpPr>
        <p:grpSpPr>
          <a:xfrm rot="0">
            <a:off x="9940065" y="1939065"/>
            <a:ext cx="7319235" cy="7319235"/>
            <a:chOff x="0" y="0"/>
            <a:chExt cx="8916670" cy="8916670"/>
          </a:xfrm>
        </p:grpSpPr>
        <p:sp>
          <p:nvSpPr>
            <p:cNvPr name="Freeform 4" id="4"/>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3"/>
              <a:stretch>
                <a:fillRect l="0" t="0" r="0" b="0"/>
              </a:stretch>
            </a:blipFill>
          </p:spPr>
        </p:sp>
        <p:sp>
          <p:nvSpPr>
            <p:cNvPr name="Freeform 5" id="5"/>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gradFill rotWithShape="true">
              <a:gsLst>
                <a:gs pos="0">
                  <a:srgbClr val="10A5FF">
                    <a:alpha val="100000"/>
                  </a:srgbClr>
                </a:gs>
                <a:gs pos="100000">
                  <a:srgbClr val="041E4E">
                    <a:alpha val="100000"/>
                  </a:srgbClr>
                </a:gs>
              </a:gsLst>
              <a:lin ang="5400000"/>
            </a:gradFill>
          </p:spPr>
        </p:sp>
      </p:grpSp>
      <p:grpSp>
        <p:nvGrpSpPr>
          <p:cNvPr name="Group 6" id="6"/>
          <p:cNvGrpSpPr/>
          <p:nvPr/>
        </p:nvGrpSpPr>
        <p:grpSpPr>
          <a:xfrm rot="0">
            <a:off x="1028700" y="4173721"/>
            <a:ext cx="8053372" cy="2849923"/>
            <a:chOff x="0" y="0"/>
            <a:chExt cx="10737829" cy="3799897"/>
          </a:xfrm>
        </p:grpSpPr>
        <p:sp>
          <p:nvSpPr>
            <p:cNvPr name="TextBox 7" id="7"/>
            <p:cNvSpPr txBox="true"/>
            <p:nvPr/>
          </p:nvSpPr>
          <p:spPr>
            <a:xfrm rot="0">
              <a:off x="0" y="1219779"/>
              <a:ext cx="10737829" cy="2580117"/>
            </a:xfrm>
            <a:prstGeom prst="rect">
              <a:avLst/>
            </a:prstGeom>
          </p:spPr>
          <p:txBody>
            <a:bodyPr anchor="t" rtlCol="false" tIns="0" lIns="0" bIns="0" rIns="0">
              <a:spAutoFit/>
            </a:bodyPr>
            <a:lstStyle/>
            <a:p>
              <a:pPr algn="l">
                <a:lnSpc>
                  <a:spcPts val="3107"/>
                </a:lnSpc>
              </a:pPr>
              <a:r>
                <a:rPr lang="en-US" sz="2219" spc="93">
                  <a:solidFill>
                    <a:srgbClr val="FFFFFF"/>
                  </a:solidFill>
                  <a:latin typeface="Roca One"/>
                  <a:ea typeface="Roca One"/>
                  <a:cs typeface="Roca One"/>
                  <a:sym typeface="Roca One"/>
                </a:rPr>
                <a:t>Thank You for Joining the Future with DebAI ⚡</a:t>
              </a:r>
            </a:p>
            <a:p>
              <a:pPr algn="l">
                <a:lnSpc>
                  <a:spcPts val="3107"/>
                </a:lnSpc>
              </a:pPr>
              <a:r>
                <a:rPr lang="en-US" sz="2219" spc="93">
                  <a:solidFill>
                    <a:srgbClr val="FFFFFF"/>
                  </a:solidFill>
                  <a:latin typeface="Roca One"/>
                  <a:ea typeface="Roca One"/>
                  <a:cs typeface="Roca One"/>
                  <a:sym typeface="Roca One"/>
                </a:rPr>
                <a:t> </a:t>
              </a:r>
            </a:p>
            <a:p>
              <a:pPr algn="l">
                <a:lnSpc>
                  <a:spcPts val="3107"/>
                </a:lnSpc>
              </a:pPr>
            </a:p>
            <a:p>
              <a:pPr algn="l" marL="0" indent="0" lvl="0">
                <a:lnSpc>
                  <a:spcPts val="3107"/>
                </a:lnSpc>
              </a:pPr>
              <a:r>
                <a:rPr lang="en-US" sz="2219" spc="93">
                  <a:solidFill>
                    <a:srgbClr val="FFFFFF"/>
                  </a:solidFill>
                  <a:latin typeface="Roca One"/>
                  <a:ea typeface="Roca One"/>
                  <a:cs typeface="Roca One"/>
                  <a:sym typeface="Roca One"/>
                </a:rPr>
                <a:t>Feel free to ask anything — I’m ready to decode your curiosity! 💬🤖</a:t>
              </a:r>
            </a:p>
          </p:txBody>
        </p:sp>
        <p:sp>
          <p:nvSpPr>
            <p:cNvPr name="TextBox 8" id="8"/>
            <p:cNvSpPr txBox="true"/>
            <p:nvPr/>
          </p:nvSpPr>
          <p:spPr>
            <a:xfrm rot="0">
              <a:off x="0" y="-47625"/>
              <a:ext cx="10737829" cy="568503"/>
            </a:xfrm>
            <a:prstGeom prst="rect">
              <a:avLst/>
            </a:prstGeom>
          </p:spPr>
          <p:txBody>
            <a:bodyPr anchor="t" rtlCol="false" tIns="0" lIns="0" bIns="0" rIns="0">
              <a:spAutoFit/>
            </a:bodyPr>
            <a:lstStyle/>
            <a:p>
              <a:pPr algn="l" marL="0" indent="0" lvl="0">
                <a:lnSpc>
                  <a:spcPts val="3667"/>
                </a:lnSpc>
              </a:pPr>
              <a:r>
                <a:rPr lang="en-US" sz="2619" spc="110">
                  <a:solidFill>
                    <a:srgbClr val="FFFFFF"/>
                  </a:solidFill>
                  <a:latin typeface="Roca One"/>
                  <a:ea typeface="Roca One"/>
                  <a:cs typeface="Roca One"/>
                  <a:sym typeface="Roca One"/>
                </a:rPr>
                <a:t>B</a:t>
              </a:r>
              <a:r>
                <a:rPr lang="en-US" sz="2619" spc="110" strike="noStrike" u="none">
                  <a:solidFill>
                    <a:srgbClr val="FFFFFF"/>
                  </a:solidFill>
                  <a:latin typeface="Roca One"/>
                  <a:ea typeface="Roca One"/>
                  <a:cs typeface="Roca One"/>
                  <a:sym typeface="Roca One"/>
                </a:rPr>
                <a:t>oost your r</a:t>
              </a:r>
              <a:r>
                <a:rPr lang="en-US" sz="2619" spc="110" strike="noStrike" u="none">
                  <a:solidFill>
                    <a:srgbClr val="FFFFFF"/>
                  </a:solidFill>
                  <a:latin typeface="Roca One"/>
                  <a:ea typeface="Roca One"/>
                  <a:cs typeface="Roca One"/>
                  <a:sym typeface="Roca One"/>
                </a:rPr>
                <a:t>e</a:t>
              </a:r>
              <a:r>
                <a:rPr lang="en-US" sz="2619" spc="110" strike="noStrike" u="none">
                  <a:solidFill>
                    <a:srgbClr val="FFFFFF"/>
                  </a:solidFill>
                  <a:latin typeface="Roca One"/>
                  <a:ea typeface="Roca One"/>
                  <a:cs typeface="Roca One"/>
                  <a:sym typeface="Roca One"/>
                </a:rPr>
                <a:t>su</a:t>
              </a:r>
              <a:r>
                <a:rPr lang="en-US" sz="2619" spc="110" strike="noStrike" u="none">
                  <a:solidFill>
                    <a:srgbClr val="FFFFFF"/>
                  </a:solidFill>
                  <a:latin typeface="Roca One"/>
                  <a:ea typeface="Roca One"/>
                  <a:cs typeface="Roca One"/>
                  <a:sym typeface="Roca One"/>
                </a:rPr>
                <a:t>l</a:t>
              </a:r>
              <a:r>
                <a:rPr lang="en-US" sz="2619" spc="110" strike="noStrike" u="none">
                  <a:solidFill>
                    <a:srgbClr val="FFFFFF"/>
                  </a:solidFill>
                  <a:latin typeface="Roca One"/>
                  <a:ea typeface="Roca One"/>
                  <a:cs typeface="Roca One"/>
                  <a:sym typeface="Roca One"/>
                </a:rPr>
                <a:t>ts with DebA</a:t>
              </a:r>
              <a:r>
                <a:rPr lang="en-US" sz="2619" spc="110" strike="noStrike" u="none">
                  <a:solidFill>
                    <a:srgbClr val="FFFFFF"/>
                  </a:solidFill>
                  <a:latin typeface="Roca One"/>
                  <a:ea typeface="Roca One"/>
                  <a:cs typeface="Roca One"/>
                  <a:sym typeface="Roca One"/>
                </a:rPr>
                <a:t>I</a:t>
              </a:r>
              <a:r>
                <a:rPr lang="en-US" sz="2619" spc="110" strike="noStrike" u="none">
                  <a:solidFill>
                    <a:srgbClr val="FFFFFF"/>
                  </a:solidFill>
                  <a:latin typeface="Roca One"/>
                  <a:ea typeface="Roca One"/>
                  <a:cs typeface="Roca One"/>
                  <a:sym typeface="Roca One"/>
                </a:rPr>
                <a:t>.</a:t>
              </a:r>
            </a:p>
          </p:txBody>
        </p:sp>
      </p:grpSp>
      <p:grpSp>
        <p:nvGrpSpPr>
          <p:cNvPr name="Group 9" id="9"/>
          <p:cNvGrpSpPr/>
          <p:nvPr/>
        </p:nvGrpSpPr>
        <p:grpSpPr>
          <a:xfrm rot="0">
            <a:off x="1028700" y="1028700"/>
            <a:ext cx="8165497" cy="1145354"/>
            <a:chOff x="0" y="0"/>
            <a:chExt cx="10887330" cy="1527139"/>
          </a:xfrm>
        </p:grpSpPr>
        <p:sp>
          <p:nvSpPr>
            <p:cNvPr name="TextBox 10" id="10"/>
            <p:cNvSpPr txBox="true"/>
            <p:nvPr/>
          </p:nvSpPr>
          <p:spPr>
            <a:xfrm rot="0">
              <a:off x="0" y="-66675"/>
              <a:ext cx="10887330" cy="1543014"/>
            </a:xfrm>
            <a:prstGeom prst="rect">
              <a:avLst/>
            </a:prstGeom>
          </p:spPr>
          <p:txBody>
            <a:bodyPr anchor="t" rtlCol="false" tIns="0" lIns="0" bIns="0" rIns="0">
              <a:spAutoFit/>
            </a:bodyPr>
            <a:lstStyle/>
            <a:p>
              <a:pPr algn="ctr">
                <a:lnSpc>
                  <a:spcPts val="9509"/>
                </a:lnSpc>
              </a:pPr>
              <a:r>
                <a:rPr lang="en-US" sz="7314" b="true">
                  <a:solidFill>
                    <a:srgbClr val="FFFFFF"/>
                  </a:solidFill>
                  <a:latin typeface="Roca One Heavy"/>
                  <a:ea typeface="Roca One Heavy"/>
                  <a:cs typeface="Roca One Heavy"/>
                  <a:sym typeface="Roca One Heavy"/>
                </a:rPr>
                <a:t>Thank You</a:t>
              </a:r>
            </a:p>
          </p:txBody>
        </p:sp>
        <p:sp>
          <p:nvSpPr>
            <p:cNvPr name="AutoShape 11" id="11"/>
            <p:cNvSpPr/>
            <p:nvPr/>
          </p:nvSpPr>
          <p:spPr>
            <a:xfrm>
              <a:off x="1294731" y="1501739"/>
              <a:ext cx="9130489" cy="0"/>
            </a:xfrm>
            <a:prstGeom prst="line">
              <a:avLst/>
            </a:prstGeom>
            <a:ln cap="flat" w="50800">
              <a:solidFill>
                <a:srgbClr val="FFFFFF"/>
              </a:solidFill>
              <a:prstDash val="solid"/>
              <a:headEnd type="diamond" len="lg" w="lg"/>
              <a:tailEnd type="diamond" len="lg" w="lg"/>
            </a:ln>
          </p:spPr>
        </p:sp>
      </p:grpSp>
    </p:spTree>
  </p:cSld>
  <p:clrMapOvr>
    <a:masterClrMapping/>
  </p:clrMapOvr>
  <p:transition spd="slow">
    <p:cover dir="l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DAG6Rjwgtao</dc:identifier>
  <dcterms:modified xsi:type="dcterms:W3CDTF">2011-08-01T06:04:30Z</dcterms:modified>
  <cp:revision>1</cp:revision>
  <dc:title>DebAI</dc:title>
</cp:coreProperties>
</file>